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15 s (clock 0:15).</a:t>
            </a:r>
          </a:p>
          <a:p>
            <a:r>
              <a:t>[EDIT] Replace all bracketed placeholders.</a:t>
            </a:r>
          </a:p>
          <a:p>
            <a:r>
              <a:t>Opening lines, memorised verbatim: "Good morning. My name is [—]. In fifteen minutes I will show you how the heaviest fraction of crude oil can choke a well to death — and how we can predict it before it happens."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 (clock 1:00).</a:t>
            </a:r>
          </a:p>
          <a:p>
            <a:r>
              <a:t>VERIFIED (exact quotes in 04_Source_Log.docx):</a:t>
            </a:r>
          </a:p>
          <a:p>
            <a:r>
              <a:t>[1] Farooq, U.; Laedre, S.; Gawel, K. Review of Asphaltenes in an Electric Field. Energy &amp; Fuels 2021, 35(9), 7285-7304 — "Asphaltene deposition costs the oil industry billions of dollars every year"; "the cost of a well shut-in for a cleanup operation due to asphaltene deposition was approximately $70 million/well."</a:t>
            </a:r>
          </a:p>
          <a:p>
            <a:r>
              <a:t>[2] Stratiev, D. et al. Mitigation of Asphaltene Deposit Formation via Chemical Additives: A Review. Processes 2025, 13(1), 141 — "the financial loss due to lost production can be as high as USD 1.2 M/day."</a:t>
            </a:r>
          </a:p>
          <a:p>
            <a:r>
              <a:t>[3] Haskett, C.E.; Tartera, M. SPE-994-PA / JPT 1965 — Hassi Messaoud; deposits ≈ 2/3 of tubing radius in five wells (restated in later field-case literature).</a:t>
            </a:r>
          </a:p>
          <a:p>
            <a:r>
              <a:t>Delivery: land each number slowly; the $70 M and $1.2 M/day figures do the heavy lifting.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 (clock 1:35).</a:t>
            </a:r>
          </a:p>
          <a:p>
            <a:r>
              <a:t>ANIMATION: the right-hand schematic has three panels — cover panels 2 and 3 with white rectangles and reveal them (Appear, on click) as you say "destabilised" and "flocculated". This is the single highest-value build in the deck.</a:t>
            </a:r>
          </a:p>
          <a:p>
            <a:r>
              <a:t>Key correction to make explicitly (committees test this): asphaltenes do not "keep the oil stable" — they are kept dispersed BY resins and aromatics.</a:t>
            </a:r>
          </a:p>
          <a:p>
            <a:r>
              <a:t>VERIFIED: ASTM D6560 = determination of asphaltenes (n-heptane insolubles) in crude petroleum; equivalent to IP 143. Cite the edition year of the copy you consult.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 (clock 2:10).</a:t>
            </a:r>
          </a:p>
          <a:p>
            <a:r>
              <a:t>VERIFIED — Ref [4] = Wylde &amp; Punase, JPT (2020): the 2.3 → 1.35 in ID reduction comes from their transient multiphase flow model. Ref [3] = Hassi Messaoud (SPE-994-PA, 1965): "Wells often lost 20 to 25 per cent of the wellhead pressure in 15 to 20 days."</a:t>
            </a:r>
          </a:p>
          <a:p>
            <a:r>
              <a:t>Delivery: point at the flow restriction in the image: "this is a pipe that still has a hole in it — for now."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 (clock 2:45).</a:t>
            </a:r>
          </a:p>
          <a:p>
            <a:r>
              <a:t>Key message: three verbs — explain, review, propose. The scope statement is your shield.</a:t>
            </a:r>
          </a:p>
          <a:p>
            <a:r>
              <a:t>Delivery: same discipline as a good paper abstract: promise less, deliver exactly.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 (clock 3:05).</a:t>
            </a:r>
          </a:p>
          <a:p>
            <a:r>
              <a:t>Scope line (bottom of the slide): say it once, do not apologise for it — it defines what is and is not being claimed.</a:t>
            </a:r>
          </a:p>
          <a:p>
            <a:r>
              <a:t>Five parts, not four — the field case study gets its own part because the audience needs to see real evidence before hearing about defenses.</a:t>
            </a:r>
          </a:p>
          <a:p>
            <a:r>
              <a:t>Delivery: fast and confident; do not linger.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 (clock 3:40).</a:t>
            </a:r>
          </a:p>
          <a:p>
            <a:r>
              <a:t>VERIFIED — Ref [5] = Yen, A.; Yin, Y.R.; Asomaning, S. Evaluating Asphaltene Inhibitors: Laboratory Tests and Field Studies, SPE 65376 (2001), for the CII; thresholds after Asomaning (2003): CII ≥ 0.9 unstable, 0.7–0.9 uncertain, &lt; 0.7 stable (confirmed in three independent sources; thresholds remain laboratory-specific).</a:t>
            </a:r>
          </a:p>
          <a:p>
            <a:r>
              <a:t>Delivery: keep the "two views, one working rule" framing — it shows you read beyond a single textbook.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 (clock 4:20).</a:t>
            </a:r>
          </a:p>
          <a:p>
            <a:r>
              <a:t>Key message: wax = cooling story; asphaltenes = pressure/composition story. This single slide is the credibility marker of the seminar.</a:t>
            </a:r>
          </a:p>
          <a:p>
            <a:r>
              <a:t>Delivery: do not read rows; say only three contrasts — trigger, nature of the solid, removal.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 (clock 4:55).</a:t>
            </a:r>
          </a:p>
          <a:p>
            <a:r>
              <a:t>Key message: four steps, but the exam-grade point is step 4 — deposition is not automatic after precipitation.</a:t>
            </a:r>
          </a:p>
          <a:p>
            <a:r>
              <a:t>Delivery: slow down on the red box — it is now the visual anchor of the slide; this idea returns in the gap analysis (slide 18) and the Q&amp;A.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 (clock 5:40).</a:t>
            </a:r>
          </a:p>
          <a:p>
            <a:r>
              <a:t>[6] = de Boer, R.B. et al. (1995) SPE Prod. Facil. 10(1) 55-61, doi:10.2118/24987-PA — CAUTION: the de Boer PLOT is in-situ density vs gas under-saturation (P_res - Pb), three risk zones; risk greatest for light, undersaturated crudes. It is NOT an AOP-vs-Pb cross-plot; that is a separate envelope rule used on this slide and stated correctly on backup slide 24. [15] = Mohammed et al., J. Pet. Sci. Eng. 2021, 197, 107956 — instability windows of thousands of psi (2,600-3,800 psi reported) and precipitation peaking near Pb. Exact quotes in 04_Source_Log.docx and 06_Technical_Accuracy_and_Risk_Register.docx (item A3).</a:t>
            </a:r>
          </a:p>
          <a:p>
            <a:r>
              <a:t>Delivery: trace the path with the pointer: reservoir → star (onset) → wellhead. This chart is your central technical exhibit.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 (clock 6:20).</a:t>
            </a:r>
          </a:p>
          <a:p>
            <a:r>
              <a:t>VERIFIED: automated Heithaus titrimetry is ASTM D6703 (asphaltene precipitation onset). SARA quantification: ASTM D2007-class / IP 143. Confirm the edition years of the copies you consult.</a:t>
            </a:r>
          </a:p>
          <a:p>
            <a:r>
              <a:t>Delivery: three methods maximum if pressed for time — SARA, CII, AOP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 (clock 7:05) — CHECKPOINT 1: you should be on this slide at 7:05.</a:t>
            </a:r>
          </a:p>
          <a:p>
            <a:r>
              <a:t>Key message: five triggers, one dominant (pressure), and a misconception corrected that sets up the case study.</a:t>
            </a:r>
          </a:p>
          <a:p>
            <a:r>
              <a:t>Delivery: the misconception box is the pivot of the whole talk — deliver it as a small revelation.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55 s (clock 8:00) — CHECKPOINT 2: on this slide at 8:00.</a:t>
            </a:r>
          </a:p>
          <a:p>
            <a:r>
              <a:t>VERIFIED — Ref [4] = Wylde, J.; Punase, A. "Asphaltenes: A Complex and Challenging Flow Assurance Issue To Measure and Quantify Risk," JPT, 30 April 2020 (Clariant Oil Services). Verbatim: "perforated between 17,700 and 18,000 ft, while the downhole chemical injection mandrel was situated at 14,600 ft, resulting in 3,400 ft of unprotected tubing"; "solvent soak for 2 days"; "continuous AI-1 injection at a high dose rate of 750 ppm"; "a decrease in the readings to around 21 at 500-ppm dosage"; "16% overall increase in production (including overall shut-in time) over a 4-month period." The 2.3 to 1.35 in ID reduction comes from their transient multiphase flow model.</a:t>
            </a:r>
          </a:p>
          <a:p>
            <a:r>
              <a:t>POINTING CUE: while you say the third bullet, point to the ≈300 m bracket on the figure — the gap between the mandrel (4450 m) and the predicted onset (4752 m). That bracket IS the whole argument of the slide.</a:t>
            </a:r>
          </a:p>
          <a:p>
            <a:r>
              <a:t>Delivery: the punchline is geometric — the well HAD inhibition, but 3,400 ft of tubing sat below it. Prediction of onset depth is not academic; it is the difference between protected and unprotected steel.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 (clock 8:35).</a:t>
            </a:r>
          </a:p>
          <a:p>
            <a:r>
              <a:t>Key message: surveillance is cheap compared with a surprise plugging — and it produces the data your prediction model needs to be validated.</a:t>
            </a:r>
          </a:p>
          <a:p>
            <a:r>
              <a:t>Delivery: name the ΔP/Q fingerprint and the gauge-ring method; both are real field practice.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 (clock 9:20).</a:t>
            </a:r>
          </a:p>
          <a:p>
            <a:r>
              <a:t>VERIFIED — Ref [3] = Haskett &amp; Tartera, SPE-994-PA (1965): verbatim, 'This method, while satisfactory for cleaning the tubings, was expensive and cumbersome.' Deposit composition: 83.4% asphaltenes, 3.3% carbenes, 13.3% resins. Still the canonical field description.</a:t>
            </a:r>
          </a:p>
          <a:p>
            <a:r>
              <a:t>Delivery: do not read all five rows — wireline, solvents at Hassi Messaoud, and the acid warning are enough.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 (clock 10:00).</a:t>
            </a:r>
          </a:p>
          <a:p>
            <a:r>
              <a:t>VERIFIED — Ref [7] = Khaleel, A.T.; Abutaqiya, M.I.L.; Sisco, C.J.; Vargas, F.M. Mitigation of Asphaltene Deposition by Re-injection of Dead Oil. Fluid Phase Equilibria 2020, 514, 112552 (correct journal: Fluid Phase Equilibria, not Fuel). Ref [4] = dosage numbers from the deepwater case (Wylde &amp; Punase, JPT 2020).</a:t>
            </a:r>
          </a:p>
          <a:p>
            <a:r>
              <a:t>Delivery: the placement rule is the bridge from the case study to your project — say it as a design principle, not an anecdote.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 (clock 10:40) — CHECKPOINT 3: on this slide at 10:40.</a:t>
            </a:r>
          </a:p>
          <a:p>
            <a:r>
              <a:t>VERIFIED: [1] Farooq et al. 2021 ($70M/well GoM); [2] Stratiev et al. 2025 ($1.2M/day; treatment up to $3M); [8] Khaleel et al., Fluid Phase Equilibria 2020 ($31-46k ME; $330-390k GoM, citing Cenegy 2001); [10] Elsevier monograph 2021 (up to $100M if at SCSSV; removal $0.3-3.5M/well; sidetrack ~$50M; downtime ~$700k/day). If asked about the attribution conflict: see Q26 of the Q&amp;A pack.</a:t>
            </a:r>
          </a:p>
          <a:p>
            <a:r>
              <a:t>Delivery: the honest caveat at the bottom builds more credibility than any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 (clock 11:20).</a:t>
            </a:r>
          </a:p>
          <a:p>
            <a:r>
              <a:t>VERIFIED — Ref [7] = Khaleel et al., Fluid Phase Equilibria 2020, verbatim: 'the laboratory methods used to validate the effectiveness of these chemicals are inadequate and the chemicals are often ineffective or actually worsen the problem when applied in the field.'</a:t>
            </a:r>
          </a:p>
          <a:p>
            <a:r>
              <a:t>Delivery: this is the pivot from review to research. Say the last box slowly.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 (clock 12:05).</a:t>
            </a:r>
          </a:p>
          <a:p>
            <a:r>
              <a:t>Delivery: read the AIM; summarise RQs as three one-liners; WP1–WP4 map to the methodology slide.</a:t>
            </a:r>
          </a:p>
          <a:p>
            <a:r>
              <a:t>Confirm with your supervisor before the seminar that a modelling-based thesis will be accepted — his agreement is your best Q&amp;A shield.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50 s (clock 12:55).</a:t>
            </a:r>
          </a:p>
          <a:p>
            <a:r>
              <a:t>Key message: four steps with outputs — and a declared tool hierarchy so no licence situation can kill the project.</a:t>
            </a:r>
          </a:p>
          <a:p>
            <a:r>
              <a:t>Validation (say it if time allows): reproduce the documented case's observed behaviour — onset deeper than the existing mandrel, ID reduction, dosage window — within a stated tolerance; cross-check onset with NeqSim and correlations.</a:t>
            </a:r>
          </a:p>
          <a:p>
            <a:r>
              <a:t>ACTION (Week 1): confirm which licensed tools the department has; NeqSim fallback verified as available (open source, Apache-2.0).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 (clock 13:35).</a:t>
            </a:r>
          </a:p>
          <a:p>
            <a:r>
              <a:t>Delivery: the limitations list is a strength — deliver it confidently, as a scope contract rather than an apology.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40 s (clock 14:15) — CONCLUSIONS START HERE, no exceptions.</a:t>
            </a:r>
          </a:p>
          <a:p>
            <a:r>
              <a:t>SOUNDBITES: rehearse each numbered message as a standalone 15-second answer — one idea, one example, one number — and practise them OUT OF ORDER, because an examiner may ask for any single one.</a:t>
            </a:r>
          </a:p>
          <a:p>
            <a:r>
              <a:t>Delivery: one message per breath, pause between them; finish with the thank-you line, then STOP TALKING.</a:t>
            </a:r>
          </a:p>
          <a:p>
            <a:r>
              <a:t>Never cut this slide, even if everything before it had to be compressed.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10 s (clock 14:25).</a:t>
            </a:r>
          </a:p>
          <a:p>
            <a:r>
              <a:t>Delivery: do not read. One sentence: "My references are on this slide and in the handout; exact quotes and page references are in my source log." [Hand 04_Source_Log.docx to the examiner if any number is challenged.] If behind schedule, skip entirely.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only if asked for the maths. The sensitivity line is the most valuable one: it justifies the safety margin on the injection 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only if asked about data, tools or risk. Naming NeqSim and the exact licence fallback is what pre-empts the 'software access' objection.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3" name="Rectangle 2"/>
          <p:cNvSpPr/>
          <p:nvPr/>
        </p:nvSpPr>
        <p:spPr>
          <a:xfrm>
            <a:off x="0" y="0"/>
            <a:ext cx="274320" cy="685800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4" name="Rectangle 3"/>
          <p:cNvSpPr/>
          <p:nvPr/>
        </p:nvSpPr>
        <p:spPr>
          <a:xfrm>
            <a:off x="274320" y="0"/>
            <a:ext cx="91440" cy="6858000"/>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914400" y="658368"/>
            <a:ext cx="10424160" cy="365760"/>
          </a:xfrm>
          <a:prstGeom prst="rect">
            <a:avLst/>
          </a:prstGeom>
          <a:noFill/>
        </p:spPr>
        <p:txBody>
          <a:bodyPr wrap="square">
            <a:spAutoFit/>
          </a:bodyPr>
          <a:lstStyle/>
          <a:p>
            <a:pPr algn="l">
              <a:lnSpc>
                <a:spcPct val="102000"/>
              </a:lnSpc>
              <a:spcAft>
                <a:spcPts val="0"/>
              </a:spcAft>
            </a:pPr>
            <a:r>
              <a:rPr sz="1350" b="1" i="0">
                <a:solidFill>
                  <a:srgbClr val="0D7377"/>
                </a:solidFill>
                <a:latin typeface="Calibri"/>
              </a:rPr>
              <a:t>SEMINAR  ·  PETROLEUM AND GAS ENGINEERING  ·  [COURSE CODE]</a:t>
            </a:r>
          </a:p>
        </p:txBody>
      </p:sp>
      <p:sp>
        <p:nvSpPr>
          <p:cNvPr id="6" name="TextBox 5"/>
          <p:cNvSpPr txBox="1"/>
          <p:nvPr/>
        </p:nvSpPr>
        <p:spPr>
          <a:xfrm>
            <a:off x="914400" y="1115568"/>
            <a:ext cx="10332720" cy="2103120"/>
          </a:xfrm>
          <a:prstGeom prst="rect">
            <a:avLst/>
          </a:prstGeom>
          <a:noFill/>
        </p:spPr>
        <p:txBody>
          <a:bodyPr wrap="square">
            <a:spAutoFit/>
          </a:bodyPr>
          <a:lstStyle/>
          <a:p>
            <a:pPr algn="l">
              <a:lnSpc>
                <a:spcPct val="100000"/>
              </a:lnSpc>
              <a:spcAft>
                <a:spcPts val="400"/>
              </a:spcAft>
            </a:pPr>
            <a:r>
              <a:rPr sz="3800" b="1" i="0">
                <a:solidFill>
                  <a:srgbClr val="1B365D"/>
                </a:solidFill>
                <a:latin typeface="Calibri"/>
              </a:rPr>
              <a:t>Asphaltenes: Predicting and Preventing Wellbore Plugging</a:t>
            </a:r>
          </a:p>
          <a:p>
            <a:pPr algn="l">
              <a:lnSpc>
                <a:spcPct val="105000"/>
              </a:lnSpc>
              <a:spcAft>
                <a:spcPts val="0"/>
              </a:spcAft>
            </a:pPr>
            <a:r>
              <a:rPr sz="1900" b="0" i="0">
                <a:solidFill>
                  <a:srgbClr val="4A5568"/>
                </a:solidFill>
                <a:latin typeface="Calibri"/>
              </a:rPr>
              <a:t>Flow assurance in production wellbores — and the seed of my graduation project</a:t>
            </a:r>
          </a:p>
        </p:txBody>
      </p:sp>
      <p:sp>
        <p:nvSpPr>
          <p:cNvPr id="7" name="TextBox 6"/>
          <p:cNvSpPr txBox="1"/>
          <p:nvPr/>
        </p:nvSpPr>
        <p:spPr>
          <a:xfrm>
            <a:off x="914400" y="3657600"/>
            <a:ext cx="6035040" cy="2286000"/>
          </a:xfrm>
          <a:prstGeom prst="rect">
            <a:avLst/>
          </a:prstGeom>
          <a:noFill/>
        </p:spPr>
        <p:txBody>
          <a:bodyPr wrap="square">
            <a:spAutoFit/>
          </a:bodyPr>
          <a:lstStyle/>
          <a:p>
            <a:pPr algn="l">
              <a:lnSpc>
                <a:spcPct val="102000"/>
              </a:lnSpc>
              <a:spcAft>
                <a:spcPts val="600"/>
              </a:spcAft>
            </a:pPr>
            <a:r>
              <a:rPr sz="1600" b="0" i="0">
                <a:solidFill>
                  <a:srgbClr val="1A1A1A"/>
                </a:solidFill>
                <a:latin typeface="Calibri"/>
              </a:rPr>
              <a:t>Presenter:  [Your full name]   ·   ID [xxxxxx]</a:t>
            </a:r>
          </a:p>
          <a:p>
            <a:pPr algn="l">
              <a:lnSpc>
                <a:spcPct val="102000"/>
              </a:lnSpc>
              <a:spcAft>
                <a:spcPts val="600"/>
              </a:spcAft>
            </a:pPr>
            <a:r>
              <a:rPr sz="1600" b="0" i="0">
                <a:solidFill>
                  <a:srgbClr val="1A1A1A"/>
                </a:solidFill>
                <a:latin typeface="Calibri"/>
              </a:rPr>
              <a:t>Supervisor:  [Prof. name]</a:t>
            </a:r>
          </a:p>
          <a:p>
            <a:pPr algn="l">
              <a:lnSpc>
                <a:spcPct val="102000"/>
              </a:lnSpc>
              <a:spcAft>
                <a:spcPts val="600"/>
              </a:spcAft>
            </a:pPr>
            <a:r>
              <a:rPr sz="1600" b="0" i="0">
                <a:solidFill>
                  <a:srgbClr val="1A1A1A"/>
                </a:solidFill>
                <a:latin typeface="Calibri"/>
              </a:rPr>
              <a:t>Programme:  BSc Petroleum and Gas Engineering — [University]</a:t>
            </a:r>
          </a:p>
          <a:p>
            <a:pPr algn="l">
              <a:lnSpc>
                <a:spcPct val="102000"/>
              </a:lnSpc>
              <a:spcAft>
                <a:spcPts val="0"/>
              </a:spcAft>
            </a:pPr>
            <a:r>
              <a:rPr sz="1600" b="0" i="0">
                <a:solidFill>
                  <a:srgbClr val="0D7377"/>
                </a:solidFill>
                <a:latin typeface="Calibri"/>
              </a:rPr>
              <a:t>[Month] 2026   ·   15-minute presentation   ·   23 slides + 2 backup</a:t>
            </a:r>
          </a:p>
        </p:txBody>
      </p:sp>
      <p:sp>
        <p:nvSpPr>
          <p:cNvPr id="8" name="Rounded Rectangle 7"/>
          <p:cNvSpPr/>
          <p:nvPr/>
        </p:nvSpPr>
        <p:spPr>
          <a:xfrm>
            <a:off x="7406640" y="3657600"/>
            <a:ext cx="3840480" cy="2103120"/>
          </a:xfrm>
          <a:prstGeom prst="roundRect">
            <a:avLst>
              <a:gd name="adj" fmla="val 6000"/>
            </a:avLst>
          </a:prstGeom>
          <a:solidFill>
            <a:srgbClr val="F8FAFC"/>
          </a:solidFill>
          <a:ln w="12700">
            <a:solidFill>
              <a:srgbClr val="E8EFF5"/>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400"/>
              </a:spcAft>
            </a:pPr>
            <a:r>
              <a:rPr sz="1100" b="1" i="0">
                <a:solidFill>
                  <a:srgbClr val="0D7377"/>
                </a:solidFill>
                <a:latin typeface="Calibri"/>
              </a:rPr>
              <a:t>ONE-LINE SUMMARY</a:t>
            </a:r>
          </a:p>
          <a:p>
            <a:pPr algn="l">
              <a:lnSpc>
                <a:spcPct val="110000"/>
              </a:lnSpc>
              <a:spcAft>
                <a:spcPts val="0"/>
              </a:spcAft>
            </a:pPr>
            <a:r>
              <a:rPr sz="1400" b="0" i="0">
                <a:solidFill>
                  <a:srgbClr val="1A1A1A"/>
                </a:solidFill>
                <a:latin typeface="Calibri"/>
              </a:rPr>
              <a:t>Field engineers call asphaltenes the cholesterol of crude oil. This seminar shows when they block wells, how we predict it — and the project that will quantify it for a real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1 · THE PROBLEM</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Asphaltenes are a billion-dollar flow-assurance problem</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2/25 · target 45s · clock 1:00</a:t>
            </a:r>
          </a:p>
        </p:txBody>
      </p:sp>
      <p:sp>
        <p:nvSpPr>
          <p:cNvPr id="7" name="Rounded Rectangle 6"/>
          <p:cNvSpPr/>
          <p:nvPr/>
        </p:nvSpPr>
        <p:spPr>
          <a:xfrm>
            <a:off x="566928" y="1645920"/>
            <a:ext cx="2688336" cy="1783080"/>
          </a:xfrm>
          <a:prstGeom prst="roundRect">
            <a:avLst>
              <a:gd name="adj" fmla="val 7000"/>
            </a:avLst>
          </a:prstGeom>
          <a:solidFill>
            <a:srgbClr val="F8FAFC"/>
          </a:solidFill>
          <a:ln w="1524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2000"/>
              </a:lnSpc>
              <a:spcAft>
                <a:spcPts val="400"/>
              </a:spcAft>
            </a:pPr>
            <a:r>
              <a:rPr sz="2300" b="1" i="0">
                <a:solidFill>
                  <a:srgbClr val="1B365D"/>
                </a:solidFill>
                <a:latin typeface="Calibri"/>
              </a:rPr>
              <a:t>billions $/yr</a:t>
            </a:r>
          </a:p>
          <a:p>
            <a:pPr algn="ctr">
              <a:lnSpc>
                <a:spcPct val="105000"/>
              </a:lnSpc>
              <a:spcAft>
                <a:spcPts val="0"/>
              </a:spcAft>
            </a:pPr>
            <a:r>
              <a:rPr sz="1050" b="0" i="0">
                <a:solidFill>
                  <a:srgbClr val="4A5568"/>
                </a:solidFill>
                <a:latin typeface="Calibri"/>
              </a:rPr>
              <a:t>industry-wide cost of deposition — Farooq et al., Energy &amp; Fuels (2021) [1]</a:t>
            </a:r>
          </a:p>
        </p:txBody>
      </p:sp>
      <p:sp>
        <p:nvSpPr>
          <p:cNvPr id="8" name="Rounded Rectangle 7"/>
          <p:cNvSpPr/>
          <p:nvPr/>
        </p:nvSpPr>
        <p:spPr>
          <a:xfrm>
            <a:off x="3401568" y="1645920"/>
            <a:ext cx="2688336" cy="1783080"/>
          </a:xfrm>
          <a:prstGeom prst="roundRect">
            <a:avLst>
              <a:gd name="adj" fmla="val 7000"/>
            </a:avLst>
          </a:prstGeom>
          <a:solidFill>
            <a:srgbClr val="F8FAFC"/>
          </a:solidFill>
          <a:ln w="1524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2000"/>
              </a:lnSpc>
              <a:spcAft>
                <a:spcPts val="400"/>
              </a:spcAft>
            </a:pPr>
            <a:r>
              <a:rPr sz="2300" b="1" i="0">
                <a:solidFill>
                  <a:srgbClr val="1B365D"/>
                </a:solidFill>
                <a:latin typeface="Calibri"/>
              </a:rPr>
              <a:t>≈ $70 M</a:t>
            </a:r>
          </a:p>
          <a:p>
            <a:pPr algn="ctr">
              <a:lnSpc>
                <a:spcPct val="105000"/>
              </a:lnSpc>
              <a:spcAft>
                <a:spcPts val="0"/>
              </a:spcAft>
            </a:pPr>
            <a:r>
              <a:rPr sz="1050" b="0" i="0">
                <a:solidFill>
                  <a:srgbClr val="4A5568"/>
                </a:solidFill>
                <a:latin typeface="Calibri"/>
              </a:rPr>
              <a:t>one deepwater GoM well: shut-in + cleanup — Farooq et al. (2021) [1]</a:t>
            </a:r>
          </a:p>
        </p:txBody>
      </p:sp>
      <p:sp>
        <p:nvSpPr>
          <p:cNvPr id="9" name="Rounded Rectangle 8"/>
          <p:cNvSpPr/>
          <p:nvPr/>
        </p:nvSpPr>
        <p:spPr>
          <a:xfrm>
            <a:off x="6236208" y="1645920"/>
            <a:ext cx="2688336" cy="1783080"/>
          </a:xfrm>
          <a:prstGeom prst="roundRect">
            <a:avLst>
              <a:gd name="adj" fmla="val 7000"/>
            </a:avLst>
          </a:prstGeom>
          <a:solidFill>
            <a:srgbClr val="F8FAFC"/>
          </a:solidFill>
          <a:ln w="1524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2000"/>
              </a:lnSpc>
              <a:spcAft>
                <a:spcPts val="400"/>
              </a:spcAft>
            </a:pPr>
            <a:r>
              <a:rPr sz="2300" b="1" i="0">
                <a:solidFill>
                  <a:srgbClr val="1B365D"/>
                </a:solidFill>
                <a:latin typeface="Calibri"/>
              </a:rPr>
              <a:t>up to $1.2 M/day</a:t>
            </a:r>
          </a:p>
          <a:p>
            <a:pPr algn="ctr">
              <a:lnSpc>
                <a:spcPct val="105000"/>
              </a:lnSpc>
              <a:spcAft>
                <a:spcPts val="0"/>
              </a:spcAft>
            </a:pPr>
            <a:r>
              <a:rPr sz="1050" b="0" i="0">
                <a:solidFill>
                  <a:srgbClr val="4A5568"/>
                </a:solidFill>
                <a:latin typeface="Calibri"/>
              </a:rPr>
              <a:t>deferred production during a plugging event — Stratiev et al., Processes (2025) [2]</a:t>
            </a:r>
          </a:p>
        </p:txBody>
      </p:sp>
      <p:sp>
        <p:nvSpPr>
          <p:cNvPr id="10" name="Rounded Rectangle 9"/>
          <p:cNvSpPr/>
          <p:nvPr/>
        </p:nvSpPr>
        <p:spPr>
          <a:xfrm>
            <a:off x="9070848" y="1645920"/>
            <a:ext cx="2688336" cy="1783080"/>
          </a:xfrm>
          <a:prstGeom prst="roundRect">
            <a:avLst>
              <a:gd name="adj" fmla="val 7000"/>
            </a:avLst>
          </a:prstGeom>
          <a:solidFill>
            <a:srgbClr val="F8FAFC"/>
          </a:solidFill>
          <a:ln w="1524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2000"/>
              </a:lnSpc>
              <a:spcAft>
                <a:spcPts val="400"/>
              </a:spcAft>
            </a:pPr>
            <a:r>
              <a:rPr sz="2300" b="1" i="0">
                <a:solidFill>
                  <a:srgbClr val="1B365D"/>
                </a:solidFill>
                <a:latin typeface="Calibri"/>
              </a:rPr>
              <a:t>up to ⅔</a:t>
            </a:r>
          </a:p>
          <a:p>
            <a:pPr algn="ctr">
              <a:lnSpc>
                <a:spcPct val="105000"/>
              </a:lnSpc>
              <a:spcAft>
                <a:spcPts val="0"/>
              </a:spcAft>
            </a:pPr>
            <a:r>
              <a:rPr sz="1050" b="0" i="0">
                <a:solidFill>
                  <a:srgbClr val="4A5568"/>
                </a:solidFill>
                <a:latin typeface="Calibri"/>
              </a:rPr>
              <a:t>of tubing radius: measured deposits, Hassi Messaoud — SPE-994-PA (1965) [3]</a:t>
            </a:r>
          </a:p>
        </p:txBody>
      </p:sp>
      <p:sp>
        <p:nvSpPr>
          <p:cNvPr id="11" name="TextBox 10"/>
          <p:cNvSpPr txBox="1"/>
          <p:nvPr/>
        </p:nvSpPr>
        <p:spPr>
          <a:xfrm>
            <a:off x="566928" y="3657600"/>
            <a:ext cx="11064240" cy="2468880"/>
          </a:xfrm>
          <a:prstGeom prst="rect">
            <a:avLst/>
          </a:prstGeom>
          <a:noFill/>
        </p:spPr>
        <p:txBody>
          <a:bodyPr wrap="square">
            <a:spAutoFit/>
          </a:bodyPr>
          <a:lstStyle/>
          <a:p>
            <a:pPr algn="l">
              <a:lnSpc>
                <a:spcPct val="102000"/>
              </a:lnSpc>
              <a:spcAft>
                <a:spcPts val="1000"/>
              </a:spcAft>
            </a:pPr>
            <a:r>
              <a:rPr sz="1550" b="0" i="0">
                <a:solidFill>
                  <a:srgbClr val="1A1A1A"/>
                </a:solidFill>
                <a:latin typeface="Calibri"/>
              </a:rPr>
              <a:t>When production pressure drops, the heaviest molecules in the crude crash out of solution and build a hard, tar-like deposit that chokes the tubing.</a:t>
            </a:r>
          </a:p>
          <a:p>
            <a:pPr algn="l">
              <a:lnSpc>
                <a:spcPct val="102000"/>
              </a:lnSpc>
              <a:spcAft>
                <a:spcPts val="1000"/>
              </a:spcAft>
            </a:pPr>
            <a:r>
              <a:rPr sz="1550" b="0" i="0">
                <a:solidFill>
                  <a:srgbClr val="1A1A1A"/>
                </a:solidFill>
                <a:latin typeface="Calibri"/>
              </a:rPr>
              <a:t>Not an exotic failure mode: asphaltenes are managed somewhere in the world every day — North Sea, Gulf of Mexico, Algerian Sahara.</a:t>
            </a:r>
          </a:p>
          <a:p>
            <a:pPr algn="l">
              <a:lnSpc>
                <a:spcPct val="102000"/>
              </a:lnSpc>
              <a:spcAft>
                <a:spcPts val="1000"/>
              </a:spcAft>
            </a:pPr>
            <a:r>
              <a:rPr sz="1550" b="0" i="0">
                <a:solidFill>
                  <a:srgbClr val="1A1A1A"/>
                </a:solidFill>
                <a:latin typeface="Calibri"/>
              </a:rPr>
              <a:t>The sting is not only the money — the deposit arrives unplanned, and the industry's default answers are reactive.</a:t>
            </a:r>
          </a:p>
          <a:p>
            <a:pPr algn="l">
              <a:lnSpc>
                <a:spcPct val="102000"/>
              </a:lnSpc>
              <a:spcAft>
                <a:spcPts val="0"/>
              </a:spcAft>
            </a:pPr>
            <a:r>
              <a:rPr sz="1600" b="1" i="0">
                <a:solidFill>
                  <a:srgbClr val="1B365D"/>
                </a:solidFill>
                <a:latin typeface="Calibri"/>
              </a:rPr>
              <a:t>So the question of this seminar: can we predict WHERE it will deposit — before the well chokes?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1 · THE PROBLEM</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What are asphaltenes? The heaviest, most polar fraction of crude — held in suspension</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3/25 · target 35s · clock 1:35</a:t>
            </a:r>
          </a:p>
        </p:txBody>
      </p:sp>
      <p:sp>
        <p:nvSpPr>
          <p:cNvPr id="7" name="TextBox 6"/>
          <p:cNvSpPr txBox="1"/>
          <p:nvPr/>
        </p:nvSpPr>
        <p:spPr>
          <a:xfrm>
            <a:off x="566928" y="1645920"/>
            <a:ext cx="6766560" cy="4480560"/>
          </a:xfrm>
          <a:prstGeom prst="rect">
            <a:avLst/>
          </a:prstGeom>
          <a:noFill/>
        </p:spPr>
        <p:txBody>
          <a:bodyPr wrap="square">
            <a:spAutoFit/>
          </a:bodyPr>
          <a:lstStyle/>
          <a:p>
            <a:pPr algn="l">
              <a:lnSpc>
                <a:spcPct val="102000"/>
              </a:lnSpc>
              <a:spcAft>
                <a:spcPts val="200"/>
              </a:spcAft>
            </a:pPr>
            <a:r>
              <a:rPr sz="1550" b="1" i="0">
                <a:solidFill>
                  <a:srgbClr val="1B365D"/>
                </a:solidFill>
                <a:latin typeface="Calibri"/>
              </a:rPr>
              <a:t>▪  Operational definition (not one molecule, but a solubility class):</a:t>
            </a:r>
          </a:p>
          <a:p>
            <a:pPr algn="l">
              <a:lnSpc>
                <a:spcPct val="105000"/>
              </a:lnSpc>
              <a:spcAft>
                <a:spcPts val="1000"/>
              </a:spcAft>
            </a:pPr>
            <a:r>
              <a:rPr sz="1450" b="0" i="0">
                <a:solidFill>
                  <a:srgbClr val="1A1A1A"/>
                </a:solidFill>
                <a:latin typeface="Calibri"/>
              </a:rPr>
              <a:t>insoluble in n-heptane, soluble in toluene — the basis of the SARA analysis (Saturates · Aromatics · Resins · Asphaltenes): ASTM D6560 / IP 143 [12].</a:t>
            </a:r>
          </a:p>
          <a:p>
            <a:pPr algn="l">
              <a:lnSpc>
                <a:spcPct val="102000"/>
              </a:lnSpc>
              <a:spcAft>
                <a:spcPts val="200"/>
              </a:spcAft>
            </a:pPr>
            <a:r>
              <a:rPr sz="1550" b="1" i="0">
                <a:solidFill>
                  <a:srgbClr val="1B365D"/>
                </a:solidFill>
                <a:latin typeface="Calibri"/>
              </a:rPr>
              <a:t>▪  Why they stay in the oil:</a:t>
            </a:r>
          </a:p>
          <a:p>
            <a:pPr algn="l">
              <a:lnSpc>
                <a:spcPct val="105000"/>
              </a:lnSpc>
              <a:spcAft>
                <a:spcPts val="1000"/>
              </a:spcAft>
            </a:pPr>
            <a:r>
              <a:rPr sz="1450" b="0" i="0">
                <a:solidFill>
                  <a:srgbClr val="1A1A1A"/>
                </a:solidFill>
                <a:latin typeface="Calibri"/>
              </a:rPr>
              <a:t>aromatic-rich resins form the stabilising shell around nano-aggregates of ~2 nm; the crude is stable while that dispersion is maintained (Yen–Mullins picture) [11].</a:t>
            </a:r>
          </a:p>
          <a:p>
            <a:pPr algn="l">
              <a:lnSpc>
                <a:spcPct val="102000"/>
              </a:lnSpc>
              <a:spcAft>
                <a:spcPts val="200"/>
              </a:spcAft>
            </a:pPr>
            <a:r>
              <a:rPr sz="1550" b="1" i="0">
                <a:solidFill>
                  <a:srgbClr val="1B365D"/>
                </a:solidFill>
                <a:latin typeface="Calibri"/>
              </a:rPr>
              <a:t>▪  Why the nickname fits:</a:t>
            </a:r>
          </a:p>
          <a:p>
            <a:pPr algn="l">
              <a:lnSpc>
                <a:spcPct val="105000"/>
              </a:lnSpc>
              <a:spcAft>
                <a:spcPts val="1000"/>
              </a:spcAft>
            </a:pPr>
            <a:r>
              <a:rPr sz="1450" b="0" i="0">
                <a:solidFill>
                  <a:srgbClr val="1A1A1A"/>
                </a:solidFill>
                <a:latin typeface="Calibri"/>
              </a:rPr>
              <a:t>field engineers call them the cholesterol of crude oil — and like cholesterol, the danger is not their presence, it is precipitation from circulation.</a:t>
            </a:r>
          </a:p>
          <a:p>
            <a:pPr algn="l">
              <a:lnSpc>
                <a:spcPct val="102000"/>
              </a:lnSpc>
              <a:spcAft>
                <a:spcPts val="200"/>
              </a:spcAft>
            </a:pPr>
            <a:r>
              <a:rPr sz="1550" b="1" i="0">
                <a:solidFill>
                  <a:srgbClr val="1B365D"/>
                </a:solidFill>
                <a:latin typeface="Calibri"/>
              </a:rPr>
              <a:t>▪  Scale:</a:t>
            </a:r>
          </a:p>
          <a:p>
            <a:pPr algn="l">
              <a:lnSpc>
                <a:spcPct val="105000"/>
              </a:lnSpc>
              <a:spcAft>
                <a:spcPts val="1000"/>
              </a:spcAft>
            </a:pPr>
            <a:r>
              <a:rPr sz="1450" b="0" i="0">
                <a:solidFill>
                  <a:srgbClr val="1A1A1A"/>
                </a:solidFill>
                <a:latin typeface="Calibri"/>
              </a:rPr>
              <a:t>typically a few per cent of the oil by weight — enough to plug a well completely.</a:t>
            </a:r>
          </a:p>
        </p:txBody>
      </p:sp>
      <p:pic>
        <p:nvPicPr>
          <p:cNvPr id="8" name="Picture 7" descr="core_shell.png"/>
          <p:cNvPicPr>
            <a:picLocks noChangeAspect="1"/>
          </p:cNvPicPr>
          <p:nvPr/>
        </p:nvPicPr>
        <p:blipFill>
          <a:blip r:embed="rId2"/>
          <a:stretch>
            <a:fillRect/>
          </a:stretch>
        </p:blipFill>
        <p:spPr>
          <a:xfrm>
            <a:off x="7543800" y="1627632"/>
            <a:ext cx="406908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1 · THE PROBLEM</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Inside the tubing: two-thirds of the flow area, gone</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4/25 · target 35s · clock 2:10</a:t>
            </a:r>
          </a:p>
        </p:txBody>
      </p:sp>
      <p:pic>
        <p:nvPicPr>
          <p:cNvPr id="7" name="Picture 6" descr="pipe_views.png"/>
          <p:cNvPicPr>
            <a:picLocks noChangeAspect="1"/>
          </p:cNvPicPr>
          <p:nvPr/>
        </p:nvPicPr>
        <p:blipFill>
          <a:blip r:embed="rId2"/>
          <a:stretch>
            <a:fillRect/>
          </a:stretch>
        </p:blipFill>
        <p:spPr>
          <a:xfrm>
            <a:off x="566928" y="1645920"/>
            <a:ext cx="6903720" cy="3090672"/>
          </a:xfrm>
          <a:prstGeom prst="rect">
            <a:avLst/>
          </a:prstGeom>
        </p:spPr>
      </p:pic>
      <p:sp>
        <p:nvSpPr>
          <p:cNvPr id="8" name="TextBox 7"/>
          <p:cNvSpPr txBox="1"/>
          <p:nvPr/>
        </p:nvSpPr>
        <p:spPr>
          <a:xfrm>
            <a:off x="566928" y="4846320"/>
            <a:ext cx="6903720" cy="1371600"/>
          </a:xfrm>
          <a:prstGeom prst="rect">
            <a:avLst/>
          </a:prstGeom>
          <a:noFill/>
        </p:spPr>
        <p:txBody>
          <a:bodyPr wrap="square">
            <a:spAutoFit/>
          </a:bodyPr>
          <a:lstStyle/>
          <a:p>
            <a:pPr algn="l">
              <a:lnSpc>
                <a:spcPct val="105000"/>
              </a:lnSpc>
              <a:spcAft>
                <a:spcPts val="300"/>
              </a:spcAft>
            </a:pPr>
            <a:r>
              <a:rPr sz="1000" b="0" i="1">
                <a:solidFill>
                  <a:srgbClr val="4A5568"/>
                </a:solidFill>
                <a:latin typeface="Calibri"/>
              </a:rPr>
              <a:t>Left and centre: cross-sections drawn TO SCALE from the measured ID reduction 2.30 → 1.35 in [4].</a:t>
            </a:r>
          </a:p>
          <a:p>
            <a:pPr algn="l">
              <a:lnSpc>
                <a:spcPct val="105000"/>
              </a:lnSpc>
              <a:spcAft>
                <a:spcPts val="300"/>
              </a:spcAft>
            </a:pPr>
            <a:r>
              <a:rPr sz="1000" b="0" i="1">
                <a:solidFill>
                  <a:srgbClr val="4A5568"/>
                </a:solidFill>
                <a:latin typeface="Calibri"/>
              </a:rPr>
              <a:t>Right: gauge-ring deposit profile — the field method that maps where the deposit sits, panel by panel, so treatment volumes can be calculated [3].</a:t>
            </a:r>
          </a:p>
          <a:p>
            <a:pPr algn="l">
              <a:lnSpc>
                <a:spcPct val="105000"/>
              </a:lnSpc>
              <a:spcAft>
                <a:spcPts val="0"/>
              </a:spcAft>
            </a:pPr>
            <a:r>
              <a:rPr sz="950" b="0" i="1">
                <a:solidFill>
                  <a:srgbClr val="B35A18"/>
                </a:solidFill>
                <a:latin typeface="Calibri"/>
              </a:rPr>
              <a:t>If you can obtain a real cut-tubing photograph with permission, it replaces the cross-sections — keep the profile panel either way.</a:t>
            </a:r>
          </a:p>
        </p:txBody>
      </p:sp>
      <p:sp>
        <p:nvSpPr>
          <p:cNvPr id="9" name="TextBox 8"/>
          <p:cNvSpPr txBox="1"/>
          <p:nvPr/>
        </p:nvSpPr>
        <p:spPr>
          <a:xfrm>
            <a:off x="7699248" y="1691640"/>
            <a:ext cx="3931920" cy="4572000"/>
          </a:xfrm>
          <a:prstGeom prst="rect">
            <a:avLst/>
          </a:prstGeom>
          <a:noFill/>
        </p:spPr>
        <p:txBody>
          <a:bodyPr wrap="square">
            <a:spAutoFit/>
          </a:bodyPr>
          <a:lstStyle/>
          <a:p>
            <a:pPr algn="l">
              <a:lnSpc>
                <a:spcPct val="102000"/>
              </a:lnSpc>
              <a:spcAft>
                <a:spcPts val="200"/>
              </a:spcAft>
            </a:pPr>
            <a:r>
              <a:rPr sz="1400" b="1" i="0">
                <a:solidFill>
                  <a:srgbClr val="1B365D"/>
                </a:solidFill>
                <a:latin typeface="Calibri"/>
              </a:rPr>
              <a:t>▪  Flow area shrinks.</a:t>
            </a:r>
          </a:p>
          <a:p>
            <a:pPr algn="l">
              <a:lnSpc>
                <a:spcPct val="104000"/>
              </a:lnSpc>
              <a:spcAft>
                <a:spcPts val="1000"/>
              </a:spcAft>
            </a:pPr>
            <a:r>
              <a:rPr sz="1300" b="0" i="0">
                <a:solidFill>
                  <a:srgbClr val="1A1A1A"/>
                </a:solidFill>
                <a:latin typeface="Calibri"/>
              </a:rPr>
              <a:t>ID 2.30 → 1.35 in: about two-thirds of the flow area lost [4].</a:t>
            </a:r>
          </a:p>
          <a:p>
            <a:pPr algn="l">
              <a:lnSpc>
                <a:spcPct val="102000"/>
              </a:lnSpc>
              <a:spcAft>
                <a:spcPts val="200"/>
              </a:spcAft>
            </a:pPr>
            <a:r>
              <a:rPr sz="1400" b="1" i="0">
                <a:solidFill>
                  <a:srgbClr val="1B365D"/>
                </a:solidFill>
                <a:latin typeface="Calibri"/>
              </a:rPr>
              <a:t>▪  Pressure is consumed downhole.</a:t>
            </a:r>
          </a:p>
          <a:p>
            <a:pPr algn="l">
              <a:lnSpc>
                <a:spcPct val="104000"/>
              </a:lnSpc>
              <a:spcAft>
                <a:spcPts val="1000"/>
              </a:spcAft>
            </a:pPr>
            <a:r>
              <a:rPr sz="1300" b="0" i="0">
                <a:solidFill>
                  <a:srgbClr val="1A1A1A"/>
                </a:solidFill>
                <a:latin typeface="Calibri"/>
              </a:rPr>
              <a:t>Severe fields lost 20–25 % of wellhead pressure within 15–20 days [3].</a:t>
            </a:r>
          </a:p>
          <a:p>
            <a:pPr algn="l">
              <a:lnSpc>
                <a:spcPct val="102000"/>
              </a:lnSpc>
              <a:spcAft>
                <a:spcPts val="200"/>
              </a:spcAft>
            </a:pPr>
            <a:r>
              <a:rPr sz="1400" b="1" i="0">
                <a:solidFill>
                  <a:srgbClr val="1B365D"/>
                </a:solidFill>
                <a:latin typeface="Calibri"/>
              </a:rPr>
              <a:t>▪  Production declines, then stops.</a:t>
            </a:r>
          </a:p>
          <a:p>
            <a:pPr algn="l">
              <a:lnSpc>
                <a:spcPct val="104000"/>
              </a:lnSpc>
              <a:spcAft>
                <a:spcPts val="1000"/>
              </a:spcAft>
            </a:pPr>
            <a:r>
              <a:rPr sz="1300" b="0" i="0">
                <a:solidFill>
                  <a:srgbClr val="1A1A1A"/>
                </a:solidFill>
                <a:latin typeface="Calibri"/>
              </a:rPr>
              <a:t>A choking well can cease flowing within days.</a:t>
            </a:r>
          </a:p>
          <a:p>
            <a:pPr algn="l">
              <a:lnSpc>
                <a:spcPct val="102000"/>
              </a:lnSpc>
              <a:spcAft>
                <a:spcPts val="200"/>
              </a:spcAft>
            </a:pPr>
            <a:r>
              <a:rPr sz="1400" b="1" i="0">
                <a:solidFill>
                  <a:srgbClr val="1B365D"/>
                </a:solidFill>
                <a:latin typeface="Calibri"/>
              </a:rPr>
              <a:t>▪  Invisible until expensive.</a:t>
            </a:r>
          </a:p>
          <a:p>
            <a:pPr algn="l">
              <a:lnSpc>
                <a:spcPct val="104000"/>
              </a:lnSpc>
              <a:spcAft>
                <a:spcPts val="1000"/>
              </a:spcAft>
            </a:pPr>
            <a:r>
              <a:rPr sz="1300" b="0" i="0">
                <a:solidFill>
                  <a:srgbClr val="1A1A1A"/>
                </a:solidFill>
                <a:latin typeface="Calibri"/>
              </a:rPr>
              <a:t>No downhole window — the pressure signature arrives late.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1 · THE PROBLEM</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Objective: explain the mechanism, review the defenses, propose the project</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5/25 · target 35s · clock 2:45</a:t>
            </a:r>
          </a:p>
        </p:txBody>
      </p:sp>
      <p:sp>
        <p:nvSpPr>
          <p:cNvPr id="7" name="Rounded Rectangle 6"/>
          <p:cNvSpPr/>
          <p:nvPr/>
        </p:nvSpPr>
        <p:spPr>
          <a:xfrm>
            <a:off x="566928" y="1691640"/>
            <a:ext cx="3611880" cy="2286000"/>
          </a:xfrm>
          <a:prstGeom prst="roundRect">
            <a:avLst>
              <a:gd name="adj" fmla="val 6000"/>
            </a:avLst>
          </a:prstGeom>
          <a:solidFill>
            <a:srgbClr val="FFFFFF"/>
          </a:solidFill>
          <a:ln w="2032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800"/>
              </a:spcAft>
            </a:pPr>
            <a:r>
              <a:rPr sz="1700" b="1" i="0">
                <a:solidFill>
                  <a:srgbClr val="0D7377"/>
                </a:solidFill>
                <a:latin typeface="Calibri"/>
              </a:rPr>
              <a:t>1 · EXPLAIN</a:t>
            </a:r>
          </a:p>
          <a:p>
            <a:pPr algn="l">
              <a:lnSpc>
                <a:spcPct val="108000"/>
              </a:lnSpc>
              <a:spcAft>
                <a:spcPts val="0"/>
              </a:spcAft>
            </a:pPr>
            <a:r>
              <a:rPr sz="1500" b="0" i="0">
                <a:solidFill>
                  <a:srgbClr val="1A1A1A"/>
                </a:solidFill>
                <a:latin typeface="Calibri"/>
              </a:rPr>
              <a:t>what destabilises asphaltenes, and the chain from precipitation to deposition</a:t>
            </a:r>
          </a:p>
        </p:txBody>
      </p:sp>
      <p:sp>
        <p:nvSpPr>
          <p:cNvPr id="8" name="Rounded Rectangle 7"/>
          <p:cNvSpPr/>
          <p:nvPr/>
        </p:nvSpPr>
        <p:spPr>
          <a:xfrm>
            <a:off x="4343400" y="1691640"/>
            <a:ext cx="3611880" cy="2286000"/>
          </a:xfrm>
          <a:prstGeom prst="roundRect">
            <a:avLst>
              <a:gd name="adj" fmla="val 6000"/>
            </a:avLst>
          </a:prstGeom>
          <a:solidFill>
            <a:srgbClr val="FFFFFF"/>
          </a:solidFill>
          <a:ln w="20320">
            <a:solidFill>
              <a:srgbClr val="E0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800"/>
              </a:spcAft>
            </a:pPr>
            <a:r>
              <a:rPr sz="1700" b="1" i="0">
                <a:solidFill>
                  <a:srgbClr val="E07A3D"/>
                </a:solidFill>
                <a:latin typeface="Calibri"/>
              </a:rPr>
              <a:t>2 · REVIEW</a:t>
            </a:r>
          </a:p>
          <a:p>
            <a:pPr algn="l">
              <a:lnSpc>
                <a:spcPct val="108000"/>
              </a:lnSpc>
              <a:spcAft>
                <a:spcPts val="0"/>
              </a:spcAft>
            </a:pPr>
            <a:r>
              <a:rPr sz="1500" b="0" i="0">
                <a:solidFill>
                  <a:srgbClr val="1A1A1A"/>
                </a:solidFill>
                <a:latin typeface="Calibri"/>
              </a:rPr>
              <a:t>today's defenses — and why they are mostly reactive</a:t>
            </a:r>
          </a:p>
        </p:txBody>
      </p:sp>
      <p:sp>
        <p:nvSpPr>
          <p:cNvPr id="9" name="Rounded Rectangle 8"/>
          <p:cNvSpPr/>
          <p:nvPr/>
        </p:nvSpPr>
        <p:spPr>
          <a:xfrm>
            <a:off x="8119871" y="1691640"/>
            <a:ext cx="3611880" cy="2286000"/>
          </a:xfrm>
          <a:prstGeom prst="roundRect">
            <a:avLst>
              <a:gd name="adj" fmla="val 6000"/>
            </a:avLst>
          </a:prstGeom>
          <a:solidFill>
            <a:srgbClr val="FFFFFF"/>
          </a:solidFill>
          <a:ln w="20320">
            <a:solidFill>
              <a:srgbClr val="2A4A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800"/>
              </a:spcAft>
            </a:pPr>
            <a:r>
              <a:rPr sz="1700" b="1" i="0">
                <a:solidFill>
                  <a:srgbClr val="2A4A73"/>
                </a:solidFill>
                <a:latin typeface="Calibri"/>
              </a:rPr>
              <a:t>3 · PROPOSE</a:t>
            </a:r>
          </a:p>
          <a:p>
            <a:pPr algn="l">
              <a:lnSpc>
                <a:spcPct val="108000"/>
              </a:lnSpc>
              <a:spcAft>
                <a:spcPts val="0"/>
              </a:spcAft>
            </a:pPr>
            <a:r>
              <a:rPr sz="1500" b="0" i="0">
                <a:solidFill>
                  <a:srgbClr val="1A1A1A"/>
                </a:solidFill>
                <a:latin typeface="Calibri"/>
              </a:rPr>
              <a:t>the graduation project: predicting onset depth and injection point for a real well</a:t>
            </a:r>
          </a:p>
        </p:txBody>
      </p:sp>
      <p:sp>
        <p:nvSpPr>
          <p:cNvPr id="10" name="Rounded Rectangle 9"/>
          <p:cNvSpPr/>
          <p:nvPr/>
        </p:nvSpPr>
        <p:spPr>
          <a:xfrm>
            <a:off x="566928" y="4297680"/>
            <a:ext cx="11064240" cy="105156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400"/>
              </a:spcAft>
            </a:pPr>
            <a:r>
              <a:rPr sz="1550" b="1" i="0">
                <a:solidFill>
                  <a:srgbClr val="1B365D"/>
                </a:solidFill>
                <a:latin typeface="Calibri"/>
              </a:rPr>
              <a:t>Scope statement:  this is a flow-assurance review and a feasibility study for the thesis — not a completed field intervention study.</a:t>
            </a:r>
          </a:p>
          <a:p>
            <a:pPr algn="l">
              <a:lnSpc>
                <a:spcPct val="102000"/>
              </a:lnSpc>
              <a:spcAft>
                <a:spcPts val="0"/>
              </a:spcAft>
            </a:pPr>
            <a:r>
              <a:rPr sz="1350" b="0" i="1">
                <a:solidFill>
                  <a:srgbClr val="4A5568"/>
                </a:solidFill>
                <a:latin typeface="Calibri"/>
              </a:rPr>
              <a:t>Saying this out loud protects you in the Q&amp;A: the committee knows exactly what you claim and what you do 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1 · THE PROBLEM</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How the next 14 minutes are organised</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6/25 · target 20s · clock 3:05</a:t>
            </a:r>
          </a:p>
        </p:txBody>
      </p:sp>
      <p:sp>
        <p:nvSpPr>
          <p:cNvPr id="7" name="Rounded Rectangle 6"/>
          <p:cNvSpPr/>
          <p:nvPr/>
        </p:nvSpPr>
        <p:spPr>
          <a:xfrm>
            <a:off x="566928" y="1691640"/>
            <a:ext cx="11064240" cy="731520"/>
          </a:xfrm>
          <a:prstGeom prst="roundRect">
            <a:avLst>
              <a:gd name="adj" fmla="val 12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0"/>
              </a:spcAft>
            </a:pPr>
            <a:r>
              <a:rPr sz="1650" b="1" i="0">
                <a:solidFill>
                  <a:srgbClr val="1B365D"/>
                </a:solidFill>
                <a:latin typeface="Calibri"/>
              </a:rPr>
              <a:t>PART 1    The problem: what asphaltenes are, and what they cost</a:t>
            </a:r>
          </a:p>
        </p:txBody>
      </p:sp>
      <p:sp>
        <p:nvSpPr>
          <p:cNvPr id="8" name="TextBox 7"/>
          <p:cNvSpPr txBox="1"/>
          <p:nvPr/>
        </p:nvSpPr>
        <p:spPr>
          <a:xfrm>
            <a:off x="9509760" y="1892808"/>
            <a:ext cx="2011680" cy="365760"/>
          </a:xfrm>
          <a:prstGeom prst="rect">
            <a:avLst/>
          </a:prstGeom>
          <a:noFill/>
        </p:spPr>
        <p:txBody>
          <a:bodyPr wrap="square">
            <a:spAutoFit/>
          </a:bodyPr>
          <a:lstStyle/>
          <a:p>
            <a:pPr algn="r">
              <a:lnSpc>
                <a:spcPct val="102000"/>
              </a:lnSpc>
              <a:spcAft>
                <a:spcPts val="0"/>
              </a:spcAft>
            </a:pPr>
            <a:r>
              <a:rPr sz="1400" b="1" i="0">
                <a:solidFill>
                  <a:srgbClr val="0D7377"/>
                </a:solidFill>
                <a:latin typeface="Calibri"/>
              </a:rPr>
              <a:t>0:00 – 2:45</a:t>
            </a:r>
          </a:p>
        </p:txBody>
      </p:sp>
      <p:sp>
        <p:nvSpPr>
          <p:cNvPr id="9" name="Rounded Rectangle 8"/>
          <p:cNvSpPr/>
          <p:nvPr/>
        </p:nvSpPr>
        <p:spPr>
          <a:xfrm>
            <a:off x="566928" y="2514600"/>
            <a:ext cx="11064240" cy="731520"/>
          </a:xfrm>
          <a:prstGeom prst="roundRect">
            <a:avLst>
              <a:gd name="adj" fmla="val 12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0"/>
              </a:spcAft>
            </a:pPr>
            <a:r>
              <a:rPr sz="1650" b="1" i="0">
                <a:solidFill>
                  <a:srgbClr val="1B365D"/>
                </a:solidFill>
                <a:latin typeface="Calibri"/>
              </a:rPr>
              <a:t>PART 2    The science: stability, triggers, and the P–T envelope</a:t>
            </a:r>
          </a:p>
        </p:txBody>
      </p:sp>
      <p:sp>
        <p:nvSpPr>
          <p:cNvPr id="10" name="TextBox 9"/>
          <p:cNvSpPr txBox="1"/>
          <p:nvPr/>
        </p:nvSpPr>
        <p:spPr>
          <a:xfrm>
            <a:off x="9509760" y="2715768"/>
            <a:ext cx="2011680" cy="365760"/>
          </a:xfrm>
          <a:prstGeom prst="rect">
            <a:avLst/>
          </a:prstGeom>
          <a:noFill/>
        </p:spPr>
        <p:txBody>
          <a:bodyPr wrap="square">
            <a:spAutoFit/>
          </a:bodyPr>
          <a:lstStyle/>
          <a:p>
            <a:pPr algn="r">
              <a:lnSpc>
                <a:spcPct val="102000"/>
              </a:lnSpc>
              <a:spcAft>
                <a:spcPts val="0"/>
              </a:spcAft>
            </a:pPr>
            <a:r>
              <a:rPr sz="1400" b="1" i="0">
                <a:solidFill>
                  <a:srgbClr val="0D7377"/>
                </a:solidFill>
                <a:latin typeface="Calibri"/>
              </a:rPr>
              <a:t>2:45 – 6:20</a:t>
            </a:r>
          </a:p>
        </p:txBody>
      </p:sp>
      <p:sp>
        <p:nvSpPr>
          <p:cNvPr id="11" name="Rounded Rectangle 10"/>
          <p:cNvSpPr/>
          <p:nvPr/>
        </p:nvSpPr>
        <p:spPr>
          <a:xfrm>
            <a:off x="566928" y="3337560"/>
            <a:ext cx="11064240" cy="731520"/>
          </a:xfrm>
          <a:prstGeom prst="roundRect">
            <a:avLst>
              <a:gd name="adj" fmla="val 12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0"/>
              </a:spcAft>
            </a:pPr>
            <a:r>
              <a:rPr sz="1650" b="1" i="0">
                <a:solidFill>
                  <a:srgbClr val="1B365D"/>
                </a:solidFill>
                <a:latin typeface="Calibri"/>
              </a:rPr>
              <a:t>PART 3    Field evidence: a documented deepwater case study</a:t>
            </a:r>
          </a:p>
        </p:txBody>
      </p:sp>
      <p:sp>
        <p:nvSpPr>
          <p:cNvPr id="12" name="TextBox 11"/>
          <p:cNvSpPr txBox="1"/>
          <p:nvPr/>
        </p:nvSpPr>
        <p:spPr>
          <a:xfrm>
            <a:off x="9509760" y="3538728"/>
            <a:ext cx="2011680" cy="365760"/>
          </a:xfrm>
          <a:prstGeom prst="rect">
            <a:avLst/>
          </a:prstGeom>
          <a:noFill/>
        </p:spPr>
        <p:txBody>
          <a:bodyPr wrap="square">
            <a:spAutoFit/>
          </a:bodyPr>
          <a:lstStyle/>
          <a:p>
            <a:pPr algn="r">
              <a:lnSpc>
                <a:spcPct val="102000"/>
              </a:lnSpc>
              <a:spcAft>
                <a:spcPts val="0"/>
              </a:spcAft>
            </a:pPr>
            <a:r>
              <a:rPr sz="1400" b="1" i="0">
                <a:solidFill>
                  <a:srgbClr val="0D7377"/>
                </a:solidFill>
                <a:latin typeface="Calibri"/>
              </a:rPr>
              <a:t>6:20 – 9:20</a:t>
            </a:r>
          </a:p>
        </p:txBody>
      </p:sp>
      <p:sp>
        <p:nvSpPr>
          <p:cNvPr id="13" name="Rounded Rectangle 12"/>
          <p:cNvSpPr/>
          <p:nvPr/>
        </p:nvSpPr>
        <p:spPr>
          <a:xfrm>
            <a:off x="566928" y="4160520"/>
            <a:ext cx="11064240" cy="731520"/>
          </a:xfrm>
          <a:prstGeom prst="roundRect">
            <a:avLst>
              <a:gd name="adj" fmla="val 12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0"/>
              </a:spcAft>
            </a:pPr>
            <a:r>
              <a:rPr sz="1650" b="1" i="0">
                <a:solidFill>
                  <a:srgbClr val="1B365D"/>
                </a:solidFill>
                <a:latin typeface="Calibri"/>
              </a:rPr>
              <a:t>PART 4    Defenses then and now — and the economics of prevention</a:t>
            </a:r>
          </a:p>
        </p:txBody>
      </p:sp>
      <p:sp>
        <p:nvSpPr>
          <p:cNvPr id="14" name="TextBox 13"/>
          <p:cNvSpPr txBox="1"/>
          <p:nvPr/>
        </p:nvSpPr>
        <p:spPr>
          <a:xfrm>
            <a:off x="9509760" y="4361688"/>
            <a:ext cx="2011680" cy="365760"/>
          </a:xfrm>
          <a:prstGeom prst="rect">
            <a:avLst/>
          </a:prstGeom>
          <a:noFill/>
        </p:spPr>
        <p:txBody>
          <a:bodyPr wrap="square">
            <a:spAutoFit/>
          </a:bodyPr>
          <a:lstStyle/>
          <a:p>
            <a:pPr algn="r">
              <a:lnSpc>
                <a:spcPct val="102000"/>
              </a:lnSpc>
              <a:spcAft>
                <a:spcPts val="0"/>
              </a:spcAft>
            </a:pPr>
            <a:r>
              <a:rPr sz="1400" b="1" i="0">
                <a:solidFill>
                  <a:srgbClr val="0D7377"/>
                </a:solidFill>
                <a:latin typeface="Calibri"/>
              </a:rPr>
              <a:t>9:20 – 11:20</a:t>
            </a:r>
          </a:p>
        </p:txBody>
      </p:sp>
      <p:sp>
        <p:nvSpPr>
          <p:cNvPr id="15" name="Rounded Rectangle 14"/>
          <p:cNvSpPr/>
          <p:nvPr/>
        </p:nvSpPr>
        <p:spPr>
          <a:xfrm>
            <a:off x="566928" y="4983480"/>
            <a:ext cx="11064240" cy="731520"/>
          </a:xfrm>
          <a:prstGeom prst="roundRect">
            <a:avLst>
              <a:gd name="adj" fmla="val 12000"/>
            </a:avLst>
          </a:prstGeom>
          <a:solidFill>
            <a:srgbClr val="E8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0"/>
              </a:spcAft>
            </a:pPr>
            <a:r>
              <a:rPr sz="1650" b="0" i="0">
                <a:solidFill>
                  <a:srgbClr val="2A4A73"/>
                </a:solidFill>
                <a:latin typeface="Calibri"/>
              </a:rPr>
              <a:t>PART 5    The graduation project: prediction workflow and plan</a:t>
            </a:r>
          </a:p>
        </p:txBody>
      </p:sp>
      <p:sp>
        <p:nvSpPr>
          <p:cNvPr id="16" name="TextBox 15"/>
          <p:cNvSpPr txBox="1"/>
          <p:nvPr/>
        </p:nvSpPr>
        <p:spPr>
          <a:xfrm>
            <a:off x="9509760" y="5184648"/>
            <a:ext cx="2011680" cy="365760"/>
          </a:xfrm>
          <a:prstGeom prst="rect">
            <a:avLst/>
          </a:prstGeom>
          <a:noFill/>
        </p:spPr>
        <p:txBody>
          <a:bodyPr wrap="square">
            <a:spAutoFit/>
          </a:bodyPr>
          <a:lstStyle/>
          <a:p>
            <a:pPr algn="r">
              <a:lnSpc>
                <a:spcPct val="102000"/>
              </a:lnSpc>
              <a:spcAft>
                <a:spcPts val="0"/>
              </a:spcAft>
            </a:pPr>
            <a:r>
              <a:rPr sz="1400" b="1" i="0">
                <a:solidFill>
                  <a:srgbClr val="0D7377"/>
                </a:solidFill>
                <a:latin typeface="Calibri"/>
              </a:rPr>
              <a:t>11:20 – 14:25</a:t>
            </a:r>
          </a:p>
        </p:txBody>
      </p:sp>
      <p:sp>
        <p:nvSpPr>
          <p:cNvPr id="17" name="Rounded Rectangle 16"/>
          <p:cNvSpPr/>
          <p:nvPr/>
        </p:nvSpPr>
        <p:spPr>
          <a:xfrm>
            <a:off x="566928" y="5806440"/>
            <a:ext cx="11064240" cy="457200"/>
          </a:xfrm>
          <a:prstGeom prst="roundRect">
            <a:avLst>
              <a:gd name="adj" fmla="val 14000"/>
            </a:avLst>
          </a:prstGeom>
          <a:solidFill>
            <a:srgbClr val="E8EFF5"/>
          </a:solidFill>
          <a:ln w="1524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2000"/>
              </a:lnSpc>
              <a:spcAft>
                <a:spcPts val="0"/>
              </a:spcAft>
            </a:pPr>
            <a:r>
              <a:rPr sz="1350" b="1" i="0">
                <a:solidFill>
                  <a:srgbClr val="1B365D"/>
                </a:solidFill>
                <a:latin typeface="Calibri"/>
              </a:rPr>
              <a:t>SCOPE — a flow-assurance review plus a thesis feasibility study; not a completed field intervention.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2 · THE SCIENCE</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Stability is a fragile balance — pressure, temperature and composition all pull on it</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7/25 · target 35s · clock 3:40</a:t>
            </a:r>
          </a:p>
        </p:txBody>
      </p:sp>
      <p:sp>
        <p:nvSpPr>
          <p:cNvPr id="7" name="TextBox 6"/>
          <p:cNvSpPr txBox="1"/>
          <p:nvPr/>
        </p:nvSpPr>
        <p:spPr>
          <a:xfrm>
            <a:off x="566928" y="1645920"/>
            <a:ext cx="5760720" cy="4480560"/>
          </a:xfrm>
          <a:prstGeom prst="rect">
            <a:avLst/>
          </a:prstGeom>
          <a:noFill/>
        </p:spPr>
        <p:txBody>
          <a:bodyPr wrap="square">
            <a:spAutoFit/>
          </a:bodyPr>
          <a:lstStyle/>
          <a:p>
            <a:pPr algn="l">
              <a:lnSpc>
                <a:spcPct val="102000"/>
              </a:lnSpc>
              <a:spcAft>
                <a:spcPts val="200"/>
              </a:spcAft>
            </a:pPr>
            <a:r>
              <a:rPr sz="1500" b="1" i="0">
                <a:solidFill>
                  <a:srgbClr val="1B365D"/>
                </a:solidFill>
                <a:latin typeface="Calibri"/>
              </a:rPr>
              <a:t>▪  Two engineering views, one working rule:</a:t>
            </a:r>
          </a:p>
          <a:p>
            <a:pPr algn="l">
              <a:lnSpc>
                <a:spcPct val="105000"/>
              </a:lnSpc>
              <a:spcAft>
                <a:spcPts val="900"/>
              </a:spcAft>
            </a:pPr>
            <a:r>
              <a:rPr sz="1400" b="0" i="0">
                <a:solidFill>
                  <a:srgbClr val="1A1A1A"/>
                </a:solidFill>
                <a:latin typeface="Calibri"/>
              </a:rPr>
              <a:t>colloidal (aggregates protected by resins) and solubility (asphaltenes dissolve best in aromatic, dense fluids).</a:t>
            </a:r>
          </a:p>
          <a:p>
            <a:pPr algn="l">
              <a:lnSpc>
                <a:spcPct val="102000"/>
              </a:lnSpc>
              <a:spcAft>
                <a:spcPts val="200"/>
              </a:spcAft>
            </a:pPr>
            <a:r>
              <a:rPr sz="1500" b="1" i="0">
                <a:solidFill>
                  <a:srgbClr val="1B365D"/>
                </a:solidFill>
                <a:latin typeface="Calibri"/>
              </a:rPr>
              <a:t>▪  Field screening uses solubility parameters:</a:t>
            </a:r>
          </a:p>
          <a:p>
            <a:pPr algn="l">
              <a:lnSpc>
                <a:spcPct val="105000"/>
              </a:lnSpc>
              <a:spcAft>
                <a:spcPts val="900"/>
              </a:spcAft>
            </a:pPr>
            <a:r>
              <a:rPr sz="1400" b="0" i="0">
                <a:solidFill>
                  <a:srgbClr val="1A1A1A"/>
                </a:solidFill>
                <a:latin typeface="Calibri"/>
              </a:rPr>
              <a:t>condensed into the Colloidal Instability Index [5] (Yen et al.; threshold scale after Asomaning) — higher CII, less stable crude.</a:t>
            </a:r>
          </a:p>
          <a:p>
            <a:pPr algn="l">
              <a:lnSpc>
                <a:spcPct val="102000"/>
              </a:lnSpc>
              <a:spcAft>
                <a:spcPts val="200"/>
              </a:spcAft>
            </a:pPr>
            <a:r>
              <a:rPr sz="1500" b="1" i="0">
                <a:solidFill>
                  <a:srgbClr val="1B365D"/>
                </a:solidFill>
                <a:latin typeface="Calibri"/>
              </a:rPr>
              <a:t>▪  Three levers move the balance:</a:t>
            </a:r>
          </a:p>
          <a:p>
            <a:pPr algn="l">
              <a:lnSpc>
                <a:spcPct val="105000"/>
              </a:lnSpc>
              <a:spcAft>
                <a:spcPts val="900"/>
              </a:spcAft>
            </a:pPr>
            <a:r>
              <a:rPr sz="1400" b="0" i="0">
                <a:solidFill>
                  <a:srgbClr val="1A1A1A"/>
                </a:solidFill>
                <a:latin typeface="Calibri"/>
              </a:rPr>
              <a:t>pressure, temperature, and composition — gas or condensate changes the oil's solvent quality.</a:t>
            </a:r>
          </a:p>
          <a:p>
            <a:pPr algn="l">
              <a:lnSpc>
                <a:spcPct val="102000"/>
              </a:lnSpc>
              <a:spcAft>
                <a:spcPts val="200"/>
              </a:spcAft>
            </a:pPr>
            <a:r>
              <a:rPr sz="1500" b="1" i="0">
                <a:solidFill>
                  <a:srgbClr val="1B365D"/>
                </a:solidFill>
                <a:latin typeface="Calibri"/>
              </a:rPr>
              <a:t>▪  Engineering consequence:</a:t>
            </a:r>
          </a:p>
          <a:p>
            <a:pPr algn="l">
              <a:lnSpc>
                <a:spcPct val="105000"/>
              </a:lnSpc>
              <a:spcAft>
                <a:spcPts val="900"/>
              </a:spcAft>
            </a:pPr>
            <a:r>
              <a:rPr sz="1400" b="0" i="0">
                <a:solidFill>
                  <a:srgbClr val="1A1A1A"/>
                </a:solidFill>
                <a:latin typeface="Calibri"/>
              </a:rPr>
              <a:t>anything that lightens the oil or drops its pressure pushes it toward instability.</a:t>
            </a:r>
          </a:p>
        </p:txBody>
      </p:sp>
      <p:sp>
        <p:nvSpPr>
          <p:cNvPr id="8" name="Rounded Rectangle 7"/>
          <p:cNvSpPr/>
          <p:nvPr/>
        </p:nvSpPr>
        <p:spPr>
          <a:xfrm>
            <a:off x="6537960" y="1737360"/>
            <a:ext cx="5074920" cy="3291840"/>
          </a:xfrm>
          <a:prstGeom prst="roundRect">
            <a:avLst>
              <a:gd name="adj" fmla="val 5000"/>
            </a:avLst>
          </a:prstGeom>
          <a:solidFill>
            <a:srgbClr val="F8FAFC"/>
          </a:solidFill>
          <a:ln w="16510">
            <a:solidFill>
              <a:srgbClr val="2A4A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2000"/>
              </a:lnSpc>
              <a:spcAft>
                <a:spcPts val="1000"/>
              </a:spcAft>
            </a:pPr>
            <a:r>
              <a:rPr sz="1400" b="1" i="0">
                <a:solidFill>
                  <a:srgbClr val="2A4A73"/>
                </a:solidFill>
                <a:latin typeface="Calibri"/>
              </a:rPr>
              <a:t>THE THREE LEVERS</a:t>
            </a:r>
          </a:p>
          <a:p>
            <a:pPr algn="ctr">
              <a:lnSpc>
                <a:spcPct val="102000"/>
              </a:lnSpc>
              <a:spcAft>
                <a:spcPts val="200"/>
              </a:spcAft>
            </a:pPr>
            <a:r>
              <a:rPr sz="1800" b="1" i="0">
                <a:solidFill>
                  <a:srgbClr val="B43B2E"/>
                </a:solidFill>
                <a:latin typeface="Calibri"/>
              </a:rPr>
              <a:t>PRESSURE ↓</a:t>
            </a:r>
          </a:p>
          <a:p>
            <a:pPr algn="ctr">
              <a:lnSpc>
                <a:spcPct val="102000"/>
              </a:lnSpc>
              <a:spcAft>
                <a:spcPts val="1000"/>
              </a:spcAft>
            </a:pPr>
            <a:r>
              <a:rPr sz="1300" b="0" i="0">
                <a:solidFill>
                  <a:srgbClr val="4A5568"/>
                </a:solidFill>
                <a:latin typeface="Calibri"/>
              </a:rPr>
              <a:t>main trigger — loss of light-end solvency as P falls</a:t>
            </a:r>
          </a:p>
          <a:p>
            <a:pPr algn="ctr">
              <a:lnSpc>
                <a:spcPct val="102000"/>
              </a:lnSpc>
              <a:spcAft>
                <a:spcPts val="200"/>
              </a:spcAft>
            </a:pPr>
            <a:r>
              <a:rPr sz="1800" b="1" i="0">
                <a:solidFill>
                  <a:srgbClr val="B43B2E"/>
                </a:solidFill>
                <a:latin typeface="Calibri"/>
              </a:rPr>
              <a:t>COMPOSITION changed</a:t>
            </a:r>
          </a:p>
          <a:p>
            <a:pPr algn="ctr">
              <a:lnSpc>
                <a:spcPct val="102000"/>
              </a:lnSpc>
              <a:spcAft>
                <a:spcPts val="1000"/>
              </a:spcAft>
            </a:pPr>
            <a:r>
              <a:rPr sz="1300" b="0" i="0">
                <a:solidFill>
                  <a:srgbClr val="4A5568"/>
                </a:solidFill>
                <a:latin typeface="Calibri"/>
              </a:rPr>
              <a:t>gas lift, gas breakthrough, CO₂ / rich-gas injection, commingling</a:t>
            </a:r>
          </a:p>
          <a:p>
            <a:pPr algn="ctr">
              <a:lnSpc>
                <a:spcPct val="102000"/>
              </a:lnSpc>
              <a:spcAft>
                <a:spcPts val="200"/>
              </a:spcAft>
            </a:pPr>
            <a:r>
              <a:rPr sz="1800" b="1" i="0">
                <a:solidFill>
                  <a:srgbClr val="B35A18"/>
                </a:solidFill>
                <a:latin typeface="Calibri"/>
              </a:rPr>
              <a:t>TEMPERATURE</a:t>
            </a:r>
          </a:p>
          <a:p>
            <a:pPr algn="ctr">
              <a:lnSpc>
                <a:spcPct val="102000"/>
              </a:lnSpc>
              <a:spcAft>
                <a:spcPts val="0"/>
              </a:spcAft>
            </a:pPr>
            <a:r>
              <a:rPr sz="1300" b="0" i="0">
                <a:solidFill>
                  <a:srgbClr val="4A5568"/>
                </a:solidFill>
                <a:latin typeface="Calibri"/>
              </a:rPr>
              <a:t>secondary modifier — shifts the envelope, direction is oil-specific</a:t>
            </a:r>
          </a:p>
        </p:txBody>
      </p:sp>
      <p:sp>
        <p:nvSpPr>
          <p:cNvPr id="9" name="Rounded Rectangle 8"/>
          <p:cNvSpPr/>
          <p:nvPr/>
        </p:nvSpPr>
        <p:spPr>
          <a:xfrm>
            <a:off x="566928" y="5120640"/>
            <a:ext cx="11064240" cy="96012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300"/>
              </a:spcAft>
            </a:pPr>
            <a:r>
              <a:rPr sz="1700" b="0">
                <a:solidFill>
                  <a:srgbClr val="1B365D"/>
                </a:solidFill>
                <a:latin typeface="Calibri"/>
              </a:rPr>
              <a:t>CII = (</a:t>
            </a:r>
            <a:r>
              <a:rPr sz="1700" b="1">
                <a:solidFill>
                  <a:srgbClr val="E8630A"/>
                </a:solidFill>
                <a:latin typeface="Calibri"/>
              </a:rPr>
              <a:t>Saturates + Asphaltenes</a:t>
            </a:r>
            <a:r>
              <a:rPr sz="1700" b="0">
                <a:solidFill>
                  <a:srgbClr val="1B365D"/>
                </a:solidFill>
                <a:latin typeface="Calibri"/>
              </a:rPr>
              <a:t>) / (</a:t>
            </a:r>
            <a:r>
              <a:rPr sz="1700" b="1">
                <a:solidFill>
                  <a:srgbClr val="0D7377"/>
                </a:solidFill>
                <a:latin typeface="Calibri"/>
              </a:rPr>
              <a:t>Resins + Aromatics</a:t>
            </a:r>
            <a:r>
              <a:rPr sz="1700" b="0">
                <a:solidFill>
                  <a:srgbClr val="1B365D"/>
                </a:solidFill>
                <a:latin typeface="Calibri"/>
              </a:rPr>
              <a:t>)</a:t>
            </a:r>
          </a:p>
          <a:p>
            <a:pPr algn="l">
              <a:lnSpc>
                <a:spcPct val="102000"/>
              </a:lnSpc>
              <a:spcAft>
                <a:spcPts val="0"/>
              </a:spcAft>
            </a:pPr>
            <a:r>
              <a:rPr sz="1150" b="0">
                <a:solidFill>
                  <a:srgbClr val="E8630A"/>
                </a:solidFill>
                <a:latin typeface="Calibri"/>
              </a:rPr>
              <a:t>orange numerator = the destabilising fraction</a:t>
            </a:r>
            <a:r>
              <a:rPr sz="1150" b="0">
                <a:solidFill>
                  <a:srgbClr val="4A5568"/>
                </a:solidFill>
                <a:latin typeface="Calibri"/>
              </a:rPr>
              <a:t>   ·   </a:t>
            </a:r>
            <a:r>
              <a:rPr sz="1150" b="0">
                <a:solidFill>
                  <a:srgbClr val="0D7377"/>
                </a:solidFill>
                <a:latin typeface="Calibri"/>
              </a:rPr>
              <a:t>teal denominator = the crude's own dispersant</a:t>
            </a:r>
            <a:r>
              <a:rPr sz="1150" b="0">
                <a:solidFill>
                  <a:srgbClr val="4A5568"/>
                </a:solidFill>
                <a:latin typeface="Calibri"/>
              </a:rPr>
              <a:t>   ·   </a:t>
            </a:r>
            <a:r>
              <a:rPr sz="1150" b="1">
                <a:solidFill>
                  <a:srgbClr val="1B365D"/>
                </a:solidFill>
                <a:latin typeface="Calibri"/>
              </a:rPr>
              <a:t>higher CII = less stable crude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2 · THE SCIENCE</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Asphaltenes are not wax — the trigger, the physics and the fix all differ</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8/25 · target 40s · clock 4:20</a:t>
            </a:r>
          </a:p>
        </p:txBody>
      </p:sp>
      <p:graphicFrame>
        <p:nvGraphicFramePr>
          <p:cNvPr id="7" name="Table 6"/>
          <p:cNvGraphicFramePr>
            <a:graphicFrameLocks noGrp="1"/>
          </p:cNvGraphicFramePr>
          <p:nvPr/>
        </p:nvGraphicFramePr>
        <p:xfrm>
          <a:off x="566928" y="1572768"/>
          <a:ext cx="11064239" cy="3968496"/>
        </p:xfrm>
        <a:graphic>
          <a:graphicData uri="http://schemas.openxmlformats.org/drawingml/2006/table">
            <a:tbl>
              <a:tblPr>
                <a:tableStyleId>{5C22544A-7EE6-4342-B048-85BDC9FD1C3A}</a:tableStyleId>
              </a:tblPr>
              <a:tblGrid>
                <a:gridCol w="2286000"/>
                <a:gridCol w="4206239"/>
                <a:gridCol w="4572000"/>
              </a:tblGrid>
              <a:tr h="566928">
                <a:tc>
                  <a:txBody>
                    <a:bodyPr wrap="square"/>
                    <a:lstStyle/>
                    <a:p>
                      <a:r>
                        <a:rPr sz="1250" b="1">
                          <a:solidFill>
                            <a:srgbClr val="FFFFFF"/>
                          </a:solidFill>
                          <a:latin typeface="Calibri"/>
                        </a:rPr>
                        <a:t/>
                      </a:r>
                    </a:p>
                  </a:txBody>
                  <a:tcPr marL="73152" marR="54864" marT="18288" marB="18288" anchor="ctr">
                    <a:solidFill>
                      <a:srgbClr val="1B365D"/>
                    </a:solidFill>
                  </a:tcPr>
                </a:tc>
                <a:tc>
                  <a:txBody>
                    <a:bodyPr wrap="square"/>
                    <a:lstStyle/>
                    <a:p>
                      <a:r>
                        <a:rPr sz="1250" b="1">
                          <a:solidFill>
                            <a:srgbClr val="FFFFFF"/>
                          </a:solidFill>
                          <a:latin typeface="Calibri"/>
                        </a:rPr>
                        <a:t>Paraffin wax</a:t>
                      </a:r>
                    </a:p>
                  </a:txBody>
                  <a:tcPr marL="73152" marR="54864" marT="18288" marB="18288" anchor="ctr">
                    <a:solidFill>
                      <a:srgbClr val="1B365D"/>
                    </a:solidFill>
                  </a:tcPr>
                </a:tc>
                <a:tc>
                  <a:txBody>
                    <a:bodyPr wrap="square"/>
                    <a:lstStyle/>
                    <a:p>
                      <a:r>
                        <a:rPr sz="1250" b="1">
                          <a:solidFill>
                            <a:srgbClr val="FFFFFF"/>
                          </a:solidFill>
                          <a:latin typeface="Calibri"/>
                        </a:rPr>
                        <a:t>Asphaltenes</a:t>
                      </a:r>
                    </a:p>
                  </a:txBody>
                  <a:tcPr marL="73152" marR="54864" marT="18288" marB="18288" anchor="ctr">
                    <a:solidFill>
                      <a:srgbClr val="1B365D"/>
                    </a:solidFill>
                  </a:tcPr>
                </a:tc>
              </a:tr>
              <a:tr h="566928">
                <a:tc>
                  <a:txBody>
                    <a:bodyPr wrap="square"/>
                    <a:lstStyle/>
                    <a:p>
                      <a:r>
                        <a:rPr sz="1200" b="0">
                          <a:solidFill>
                            <a:srgbClr val="1A1A1A"/>
                          </a:solidFill>
                          <a:latin typeface="Calibri"/>
                        </a:rPr>
                        <a:t>Main trigger</a:t>
                      </a:r>
                    </a:p>
                  </a:txBody>
                  <a:tcPr marL="73152" marR="54864" marT="18288" marB="18288" anchor="ctr">
                    <a:solidFill>
                      <a:srgbClr val="FFFFFF"/>
                    </a:solidFill>
                  </a:tcPr>
                </a:tc>
                <a:tc>
                  <a:txBody>
                    <a:bodyPr wrap="square"/>
                    <a:lstStyle/>
                    <a:p>
                      <a:r>
                        <a:rPr sz="1200" b="0">
                          <a:solidFill>
                            <a:srgbClr val="1A1A1A"/>
                          </a:solidFill>
                          <a:latin typeface="Calibri"/>
                        </a:rPr>
                        <a:t>temperature falls below the wax appearance temperature (WAT)</a:t>
                      </a:r>
                    </a:p>
                  </a:txBody>
                  <a:tcPr marL="73152" marR="54864" marT="18288" marB="18288" anchor="ctr">
                    <a:solidFill>
                      <a:srgbClr val="FFFFFF"/>
                    </a:solidFill>
                  </a:tcPr>
                </a:tc>
                <a:tc>
                  <a:txBody>
                    <a:bodyPr wrap="square"/>
                    <a:lstStyle/>
                    <a:p>
                      <a:r>
                        <a:rPr sz="1200" b="0">
                          <a:solidFill>
                            <a:srgbClr val="1A1A1A"/>
                          </a:solidFill>
                          <a:latin typeface="Calibri"/>
                        </a:rPr>
                        <a:t>pressure falls below the onset pressure; composition change</a:t>
                      </a:r>
                    </a:p>
                  </a:txBody>
                  <a:tcPr marL="73152" marR="54864" marT="18288" marB="18288" anchor="ctr">
                    <a:solidFill>
                      <a:srgbClr val="FFFFFF"/>
                    </a:solidFill>
                  </a:tcPr>
                </a:tc>
              </a:tr>
              <a:tr h="566928">
                <a:tc>
                  <a:txBody>
                    <a:bodyPr wrap="square"/>
                    <a:lstStyle/>
                    <a:p>
                      <a:r>
                        <a:rPr sz="1200" b="0">
                          <a:solidFill>
                            <a:srgbClr val="1A1A1A"/>
                          </a:solidFill>
                          <a:latin typeface="Calibri"/>
                        </a:rPr>
                        <a:t>Nature of the solid</a:t>
                      </a:r>
                    </a:p>
                  </a:txBody>
                  <a:tcPr marL="73152" marR="54864" marT="18288" marB="18288" anchor="ctr">
                    <a:solidFill>
                      <a:srgbClr val="F8FAFC"/>
                    </a:solidFill>
                  </a:tcPr>
                </a:tc>
                <a:tc>
                  <a:txBody>
                    <a:bodyPr wrap="square"/>
                    <a:lstStyle/>
                    <a:p>
                      <a:r>
                        <a:rPr sz="1200" b="0">
                          <a:solidFill>
                            <a:srgbClr val="1A1A1A"/>
                          </a:solidFill>
                          <a:latin typeface="Calibri"/>
                        </a:rPr>
                        <a:t>crystalline — it can melt</a:t>
                      </a:r>
                    </a:p>
                  </a:txBody>
                  <a:tcPr marL="73152" marR="54864" marT="18288" marB="18288" anchor="ctr">
                    <a:solidFill>
                      <a:srgbClr val="F8FAFC"/>
                    </a:solidFill>
                  </a:tcPr>
                </a:tc>
                <a:tc>
                  <a:txBody>
                    <a:bodyPr wrap="square"/>
                    <a:lstStyle/>
                    <a:p>
                      <a:r>
                        <a:rPr sz="1200" b="0">
                          <a:solidFill>
                            <a:srgbClr val="1A1A1A"/>
                          </a:solidFill>
                          <a:latin typeface="Calibri"/>
                        </a:rPr>
                        <a:t>amorphous — it does not remelt; thermal methods largely fail</a:t>
                      </a:r>
                    </a:p>
                  </a:txBody>
                  <a:tcPr marL="73152" marR="54864" marT="18288" marB="18288" anchor="ctr">
                    <a:solidFill>
                      <a:srgbClr val="F8FAFC"/>
                    </a:solidFill>
                  </a:tcPr>
                </a:tc>
              </a:tr>
              <a:tr h="566928">
                <a:tc>
                  <a:txBody>
                    <a:bodyPr wrap="square"/>
                    <a:lstStyle/>
                    <a:p>
                      <a:r>
                        <a:rPr sz="1200" b="0">
                          <a:solidFill>
                            <a:srgbClr val="1A1A1A"/>
                          </a:solidFill>
                          <a:latin typeface="Calibri"/>
                        </a:rPr>
                        <a:t>Where solids appear</a:t>
                      </a:r>
                    </a:p>
                  </a:txBody>
                  <a:tcPr marL="73152" marR="54864" marT="18288" marB="18288" anchor="ctr">
                    <a:solidFill>
                      <a:srgbClr val="FFFFFF"/>
                    </a:solidFill>
                  </a:tcPr>
                </a:tc>
                <a:tc>
                  <a:txBody>
                    <a:bodyPr wrap="square"/>
                    <a:lstStyle/>
                    <a:p>
                      <a:r>
                        <a:rPr sz="1200" b="0">
                          <a:solidFill>
                            <a:srgbClr val="1A1A1A"/>
                          </a:solidFill>
                          <a:latin typeface="Calibri"/>
                        </a:rPr>
                        <a:t>in flowlines and surface lines, cold spots</a:t>
                      </a:r>
                    </a:p>
                  </a:txBody>
                  <a:tcPr marL="73152" marR="54864" marT="18288" marB="18288" anchor="ctr">
                    <a:solidFill>
                      <a:srgbClr val="FFFFFF"/>
                    </a:solidFill>
                  </a:tcPr>
                </a:tc>
                <a:tc>
                  <a:txBody>
                    <a:bodyPr wrap="square"/>
                    <a:lstStyle/>
                    <a:p>
                      <a:r>
                        <a:rPr sz="1200" b="0">
                          <a:solidFill>
                            <a:srgbClr val="1A1A1A"/>
                          </a:solidFill>
                          <a:latin typeface="Calibri"/>
                        </a:rPr>
                        <a:t>wherever the flowing P–T path crosses the envelope — often deep in the tubing</a:t>
                      </a:r>
                    </a:p>
                  </a:txBody>
                  <a:tcPr marL="73152" marR="54864" marT="18288" marB="18288" anchor="ctr">
                    <a:solidFill>
                      <a:srgbClr val="FFFFFF"/>
                    </a:solidFill>
                  </a:tcPr>
                </a:tc>
              </a:tr>
              <a:tr h="566928">
                <a:tc>
                  <a:txBody>
                    <a:bodyPr wrap="square"/>
                    <a:lstStyle/>
                    <a:p>
                      <a:r>
                        <a:rPr sz="1200" b="0">
                          <a:solidFill>
                            <a:srgbClr val="1A1A1A"/>
                          </a:solidFill>
                          <a:latin typeface="Calibri"/>
                        </a:rPr>
                        <a:t>Deposition mechanism</a:t>
                      </a:r>
                    </a:p>
                  </a:txBody>
                  <a:tcPr marL="73152" marR="54864" marT="18288" marB="18288" anchor="ctr">
                    <a:solidFill>
                      <a:srgbClr val="F8FAFC"/>
                    </a:solidFill>
                  </a:tcPr>
                </a:tc>
                <a:tc>
                  <a:txBody>
                    <a:bodyPr wrap="square"/>
                    <a:lstStyle/>
                    <a:p>
                      <a:r>
                        <a:rPr sz="1200" b="0">
                          <a:solidFill>
                            <a:srgbClr val="1A1A1A"/>
                          </a:solidFill>
                          <a:latin typeface="Calibri"/>
                        </a:rPr>
                        <a:t>diffusion + shear; hard wax layer grows inward</a:t>
                      </a:r>
                    </a:p>
                  </a:txBody>
                  <a:tcPr marL="73152" marR="54864" marT="18288" marB="18288" anchor="ctr">
                    <a:solidFill>
                      <a:srgbClr val="F8FAFC"/>
                    </a:solidFill>
                  </a:tcPr>
                </a:tc>
                <a:tc>
                  <a:txBody>
                    <a:bodyPr wrap="square"/>
                    <a:lstStyle/>
                    <a:p>
                      <a:r>
                        <a:rPr sz="1200" b="0">
                          <a:solidFill>
                            <a:srgbClr val="1A1A1A"/>
                          </a:solidFill>
                          <a:latin typeface="Calibri"/>
                        </a:rPr>
                        <a:t>adhesion of flocculated aggregates; can form throughout the flow path</a:t>
                      </a:r>
                    </a:p>
                  </a:txBody>
                  <a:tcPr marL="73152" marR="54864" marT="18288" marB="18288" anchor="ctr">
                    <a:solidFill>
                      <a:srgbClr val="F8FAFC"/>
                    </a:solidFill>
                  </a:tcPr>
                </a:tc>
              </a:tr>
              <a:tr h="566928">
                <a:tc>
                  <a:txBody>
                    <a:bodyPr wrap="square"/>
                    <a:lstStyle/>
                    <a:p>
                      <a:r>
                        <a:rPr sz="1200" b="0">
                          <a:solidFill>
                            <a:srgbClr val="1A1A1A"/>
                          </a:solidFill>
                          <a:latin typeface="Calibri"/>
                        </a:rPr>
                        <a:t>Removal</a:t>
                      </a:r>
                    </a:p>
                  </a:txBody>
                  <a:tcPr marL="73152" marR="54864" marT="18288" marB="18288" anchor="ctr">
                    <a:solidFill>
                      <a:srgbClr val="FFFFFF"/>
                    </a:solidFill>
                  </a:tcPr>
                </a:tc>
                <a:tc>
                  <a:txBody>
                    <a:bodyPr wrap="square"/>
                    <a:lstStyle/>
                    <a:p>
                      <a:r>
                        <a:rPr sz="1200" b="0">
                          <a:solidFill>
                            <a:srgbClr val="1A1A1A"/>
                          </a:solidFill>
                          <a:latin typeface="Calibri"/>
                        </a:rPr>
                        <a:t>hot oil, thermal insulation, scrapers</a:t>
                      </a:r>
                    </a:p>
                  </a:txBody>
                  <a:tcPr marL="73152" marR="54864" marT="18288" marB="18288" anchor="ctr">
                    <a:solidFill>
                      <a:srgbClr val="FFFFFF"/>
                    </a:solidFill>
                  </a:tcPr>
                </a:tc>
                <a:tc>
                  <a:txBody>
                    <a:bodyPr wrap="square"/>
                    <a:lstStyle/>
                    <a:p>
                      <a:r>
                        <a:rPr sz="1200" b="0">
                          <a:solidFill>
                            <a:srgbClr val="1A1A1A"/>
                          </a:solidFill>
                          <a:latin typeface="Calibri"/>
                        </a:rPr>
                        <a:t>aromatic solvents (toluene/xylene), milling, dispersants</a:t>
                      </a:r>
                    </a:p>
                  </a:txBody>
                  <a:tcPr marL="73152" marR="54864" marT="18288" marB="18288" anchor="ctr">
                    <a:solidFill>
                      <a:srgbClr val="FFFFFF"/>
                    </a:solidFill>
                  </a:tcPr>
                </a:tc>
              </a:tr>
              <a:tr h="566928">
                <a:tc>
                  <a:txBody>
                    <a:bodyPr wrap="square"/>
                    <a:lstStyle/>
                    <a:p>
                      <a:r>
                        <a:rPr sz="1200" b="0">
                          <a:solidFill>
                            <a:srgbClr val="1A1A1A"/>
                          </a:solidFill>
                          <a:latin typeface="Calibri"/>
                        </a:rPr>
                        <a:t>Inhibition</a:t>
                      </a:r>
                    </a:p>
                  </a:txBody>
                  <a:tcPr marL="73152" marR="54864" marT="18288" marB="18288" anchor="ctr">
                    <a:solidFill>
                      <a:srgbClr val="F8FAFC"/>
                    </a:solidFill>
                  </a:tcPr>
                </a:tc>
                <a:tc>
                  <a:txBody>
                    <a:bodyPr wrap="square"/>
                    <a:lstStyle/>
                    <a:p>
                      <a:r>
                        <a:rPr sz="1200" b="0">
                          <a:solidFill>
                            <a:srgbClr val="1A1A1A"/>
                          </a:solidFill>
                          <a:latin typeface="Calibri"/>
                        </a:rPr>
                        <a:t>crystal modifiers / pour-point depressants</a:t>
                      </a:r>
                    </a:p>
                  </a:txBody>
                  <a:tcPr marL="73152" marR="54864" marT="18288" marB="18288" anchor="ctr">
                    <a:solidFill>
                      <a:srgbClr val="F8FAFC"/>
                    </a:solidFill>
                  </a:tcPr>
                </a:tc>
                <a:tc>
                  <a:txBody>
                    <a:bodyPr wrap="square"/>
                    <a:lstStyle/>
                    <a:p>
                      <a:r>
                        <a:rPr sz="1200" b="0">
                          <a:solidFill>
                            <a:srgbClr val="1A1A1A"/>
                          </a:solidFill>
                          <a:latin typeface="Calibri"/>
                        </a:rPr>
                        <a:t>polymeric dispersants (inhibitors) injected continuously below the onset</a:t>
                      </a:r>
                    </a:p>
                  </a:txBody>
                  <a:tcPr marL="73152" marR="54864" marT="18288" marB="18288" anchor="ctr">
                    <a:solidFill>
                      <a:srgbClr val="F8FAFC"/>
                    </a:solidFill>
                  </a:tcPr>
                </a:tc>
              </a:tr>
            </a:tbl>
          </a:graphicData>
        </a:graphic>
      </p:graphicFrame>
      <p:sp>
        <p:nvSpPr>
          <p:cNvPr id="8" name="TextBox 7"/>
          <p:cNvSpPr txBox="1"/>
          <p:nvPr/>
        </p:nvSpPr>
        <p:spPr>
          <a:xfrm>
            <a:off x="566928" y="5468112"/>
            <a:ext cx="11064240" cy="310896"/>
          </a:xfrm>
          <a:prstGeom prst="rect">
            <a:avLst/>
          </a:prstGeom>
          <a:noFill/>
        </p:spPr>
        <p:txBody>
          <a:bodyPr wrap="square">
            <a:spAutoFit/>
          </a:bodyPr>
          <a:lstStyle/>
          <a:p>
            <a:pPr algn="l">
              <a:lnSpc>
                <a:spcPct val="102000"/>
              </a:lnSpc>
              <a:spcAft>
                <a:spcPts val="0"/>
              </a:spcAft>
            </a:pPr>
            <a:r>
              <a:rPr sz="1300" b="0" i="1">
                <a:solidFill>
                  <a:srgbClr val="0D7377"/>
                </a:solidFill>
                <a:latin typeface="Calibri"/>
              </a:rPr>
              <a:t>NEXT  →  how that instability becomes a deposit in the tubing.</a:t>
            </a:r>
          </a:p>
        </p:txBody>
      </p:sp>
      <p:sp>
        <p:nvSpPr>
          <p:cNvPr id="9" name="TextBox 8"/>
          <p:cNvSpPr txBox="1"/>
          <p:nvPr/>
        </p:nvSpPr>
        <p:spPr>
          <a:xfrm>
            <a:off x="566928" y="5806440"/>
            <a:ext cx="11064240" cy="457200"/>
          </a:xfrm>
          <a:prstGeom prst="rect">
            <a:avLst/>
          </a:prstGeom>
          <a:noFill/>
        </p:spPr>
        <p:txBody>
          <a:bodyPr wrap="square">
            <a:spAutoFit/>
          </a:bodyPr>
          <a:lstStyle/>
          <a:p>
            <a:pPr algn="l">
              <a:lnSpc>
                <a:spcPct val="102000"/>
              </a:lnSpc>
              <a:spcAft>
                <a:spcPts val="0"/>
              </a:spcAft>
            </a:pPr>
            <a:r>
              <a:rPr sz="1350" b="0" i="1">
                <a:solidFill>
                  <a:srgbClr val="4A5568"/>
                </a:solidFill>
                <a:latin typeface="Calibri"/>
              </a:rPr>
              <a:t>Temperature matters — but as a modifier of the envelope, not the primary trigger. Juries test this distinction.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2 · THE SCIENCE</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From stable oil to plugged tubing: four steps — and the critical distinction</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9/25 · target 35s · clock 4:55</a:t>
            </a:r>
          </a:p>
        </p:txBody>
      </p:sp>
      <p:sp>
        <p:nvSpPr>
          <p:cNvPr id="7" name="Rounded Rectangle 6"/>
          <p:cNvSpPr/>
          <p:nvPr/>
        </p:nvSpPr>
        <p:spPr>
          <a:xfrm>
            <a:off x="566928" y="1691640"/>
            <a:ext cx="2688336" cy="2606040"/>
          </a:xfrm>
          <a:prstGeom prst="roundRect">
            <a:avLst>
              <a:gd name="adj" fmla="val 6000"/>
            </a:avLst>
          </a:prstGeom>
          <a:solidFill>
            <a:srgbClr val="FFFFFF"/>
          </a:solidFill>
          <a:ln w="20320">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2900"/>
              </a:spcAft>
            </a:pPr>
            <a:r>
              <a:rPr sz="1100" b="0" i="0">
                <a:solidFill>
                  <a:srgbClr val="1A1A1A"/>
                </a:solidFill>
                <a:latin typeface="Calibri"/>
              </a:rPr>
              <a:t/>
            </a:r>
          </a:p>
          <a:p>
            <a:pPr algn="l">
              <a:lnSpc>
                <a:spcPct val="102000"/>
              </a:lnSpc>
              <a:spcAft>
                <a:spcPts val="600"/>
              </a:spcAft>
            </a:pPr>
            <a:r>
              <a:rPr sz="1450" b="1" i="0">
                <a:solidFill>
                  <a:srgbClr val="B43B2E"/>
                </a:solidFill>
                <a:latin typeface="Calibri"/>
              </a:rPr>
              <a:t>1 · PRECIPITATION</a:t>
            </a:r>
          </a:p>
          <a:p>
            <a:pPr algn="l">
              <a:lnSpc>
                <a:spcPct val="106000"/>
              </a:lnSpc>
              <a:spcAft>
                <a:spcPts val="0"/>
              </a:spcAft>
            </a:pPr>
            <a:r>
              <a:rPr sz="1350" b="0" i="0">
                <a:solidFill>
                  <a:srgbClr val="1A1A1A"/>
                </a:solidFill>
                <a:latin typeface="Calibri"/>
              </a:rPr>
              <a:t>Thermodynamic. The oil crosses the envelope and asphaltenes separate from solution as nano-aggregates.</a:t>
            </a:r>
          </a:p>
        </p:txBody>
      </p:sp>
      <p:pic>
        <p:nvPicPr>
          <p:cNvPr id="8" name="Picture 7" descr="icon_flask.png"/>
          <p:cNvPicPr>
            <a:picLocks noChangeAspect="1"/>
          </p:cNvPicPr>
          <p:nvPr/>
        </p:nvPicPr>
        <p:blipFill>
          <a:blip r:embed="rId2"/>
          <a:stretch>
            <a:fillRect/>
          </a:stretch>
        </p:blipFill>
        <p:spPr>
          <a:xfrm>
            <a:off x="713232" y="1810512"/>
            <a:ext cx="621792" cy="621792"/>
          </a:xfrm>
          <a:prstGeom prst="rect">
            <a:avLst/>
          </a:prstGeom>
        </p:spPr>
      </p:pic>
      <p:sp>
        <p:nvSpPr>
          <p:cNvPr id="9" name="Rounded Rectangle 8"/>
          <p:cNvSpPr/>
          <p:nvPr/>
        </p:nvSpPr>
        <p:spPr>
          <a:xfrm>
            <a:off x="3401568" y="1691640"/>
            <a:ext cx="2688336" cy="2606040"/>
          </a:xfrm>
          <a:prstGeom prst="roundRect">
            <a:avLst>
              <a:gd name="adj" fmla="val 6000"/>
            </a:avLst>
          </a:prstGeom>
          <a:solidFill>
            <a:srgbClr val="FFFFFF"/>
          </a:solidFill>
          <a:ln w="20320">
            <a:solidFill>
              <a:srgbClr val="B35A1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2900"/>
              </a:spcAft>
            </a:pPr>
            <a:r>
              <a:rPr sz="1100" b="0" i="0">
                <a:solidFill>
                  <a:srgbClr val="1A1A1A"/>
                </a:solidFill>
                <a:latin typeface="Calibri"/>
              </a:rPr>
              <a:t/>
            </a:r>
          </a:p>
          <a:p>
            <a:pPr algn="l">
              <a:lnSpc>
                <a:spcPct val="102000"/>
              </a:lnSpc>
              <a:spcAft>
                <a:spcPts val="600"/>
              </a:spcAft>
            </a:pPr>
            <a:r>
              <a:rPr sz="1450" b="1" i="0">
                <a:solidFill>
                  <a:srgbClr val="B35A18"/>
                </a:solidFill>
                <a:latin typeface="Calibri"/>
              </a:rPr>
              <a:t>2 · FLOCCULATION</a:t>
            </a:r>
          </a:p>
          <a:p>
            <a:pPr algn="l">
              <a:lnSpc>
                <a:spcPct val="106000"/>
              </a:lnSpc>
              <a:spcAft>
                <a:spcPts val="0"/>
              </a:spcAft>
            </a:pPr>
            <a:r>
              <a:rPr sz="1350" b="0" i="0">
                <a:solidFill>
                  <a:srgbClr val="1A1A1A"/>
                </a:solidFill>
                <a:latin typeface="Calibri"/>
              </a:rPr>
              <a:t>Particles stick together into larger, irregular clusters.</a:t>
            </a:r>
          </a:p>
        </p:txBody>
      </p:sp>
      <p:pic>
        <p:nvPicPr>
          <p:cNvPr id="10" name="Picture 9" descr="icon_clusters.png"/>
          <p:cNvPicPr>
            <a:picLocks noChangeAspect="1"/>
          </p:cNvPicPr>
          <p:nvPr/>
        </p:nvPicPr>
        <p:blipFill>
          <a:blip r:embed="rId3"/>
          <a:stretch>
            <a:fillRect/>
          </a:stretch>
        </p:blipFill>
        <p:spPr>
          <a:xfrm>
            <a:off x="3547872" y="1810512"/>
            <a:ext cx="621792" cy="621792"/>
          </a:xfrm>
          <a:prstGeom prst="rect">
            <a:avLst/>
          </a:prstGeom>
        </p:spPr>
      </p:pic>
      <p:sp>
        <p:nvSpPr>
          <p:cNvPr id="11" name="Rounded Rectangle 10"/>
          <p:cNvSpPr/>
          <p:nvPr/>
        </p:nvSpPr>
        <p:spPr>
          <a:xfrm>
            <a:off x="6236208" y="1691640"/>
            <a:ext cx="2688336" cy="2606040"/>
          </a:xfrm>
          <a:prstGeom prst="roundRect">
            <a:avLst>
              <a:gd name="adj" fmla="val 6000"/>
            </a:avLst>
          </a:prstGeom>
          <a:solidFill>
            <a:srgbClr val="FFFFFF"/>
          </a:solidFill>
          <a:ln w="2032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2900"/>
              </a:spcAft>
            </a:pPr>
            <a:r>
              <a:rPr sz="1100" b="0" i="0">
                <a:solidFill>
                  <a:srgbClr val="1A1A1A"/>
                </a:solidFill>
                <a:latin typeface="Calibri"/>
              </a:rPr>
              <a:t/>
            </a:r>
          </a:p>
          <a:p>
            <a:pPr algn="l">
              <a:lnSpc>
                <a:spcPct val="102000"/>
              </a:lnSpc>
              <a:spcAft>
                <a:spcPts val="600"/>
              </a:spcAft>
            </a:pPr>
            <a:r>
              <a:rPr sz="1450" b="1" i="0">
                <a:solidFill>
                  <a:srgbClr val="0D7377"/>
                </a:solidFill>
                <a:latin typeface="Calibri"/>
              </a:rPr>
              <a:t>3 · AGGREGATION</a:t>
            </a:r>
          </a:p>
          <a:p>
            <a:pPr algn="l">
              <a:lnSpc>
                <a:spcPct val="106000"/>
              </a:lnSpc>
              <a:spcAft>
                <a:spcPts val="0"/>
              </a:spcAft>
            </a:pPr>
            <a:r>
              <a:rPr sz="1350" b="0" i="0">
                <a:solidFill>
                  <a:srgbClr val="1A1A1A"/>
                </a:solidFill>
                <a:latin typeface="Calibri"/>
              </a:rPr>
              <a:t>Clusters grow; some can approach millimetre scale.</a:t>
            </a:r>
          </a:p>
        </p:txBody>
      </p:sp>
      <p:pic>
        <p:nvPicPr>
          <p:cNvPr id="12" name="Picture 11" descr="icon_clusters.png"/>
          <p:cNvPicPr>
            <a:picLocks noChangeAspect="1"/>
          </p:cNvPicPr>
          <p:nvPr/>
        </p:nvPicPr>
        <p:blipFill>
          <a:blip r:embed="rId3"/>
          <a:stretch>
            <a:fillRect/>
          </a:stretch>
        </p:blipFill>
        <p:spPr>
          <a:xfrm>
            <a:off x="6382512" y="1810512"/>
            <a:ext cx="621792" cy="621792"/>
          </a:xfrm>
          <a:prstGeom prst="rect">
            <a:avLst/>
          </a:prstGeom>
        </p:spPr>
      </p:pic>
      <p:sp>
        <p:nvSpPr>
          <p:cNvPr id="13" name="Rounded Rectangle 12"/>
          <p:cNvSpPr/>
          <p:nvPr/>
        </p:nvSpPr>
        <p:spPr>
          <a:xfrm>
            <a:off x="9070848" y="1691640"/>
            <a:ext cx="2688336" cy="2606040"/>
          </a:xfrm>
          <a:prstGeom prst="roundRect">
            <a:avLst>
              <a:gd name="adj" fmla="val 6000"/>
            </a:avLst>
          </a:prstGeom>
          <a:solidFill>
            <a:srgbClr val="FFFFFF"/>
          </a:solidFill>
          <a:ln w="20320">
            <a:solidFill>
              <a:srgbClr val="2A4A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2900"/>
              </a:spcAft>
            </a:pPr>
            <a:r>
              <a:rPr sz="1100" b="0" i="0">
                <a:solidFill>
                  <a:srgbClr val="1A1A1A"/>
                </a:solidFill>
                <a:latin typeface="Calibri"/>
              </a:rPr>
              <a:t/>
            </a:r>
          </a:p>
          <a:p>
            <a:pPr algn="l">
              <a:lnSpc>
                <a:spcPct val="102000"/>
              </a:lnSpc>
              <a:spcAft>
                <a:spcPts val="600"/>
              </a:spcAft>
            </a:pPr>
            <a:r>
              <a:rPr sz="1450" b="1" i="0">
                <a:solidFill>
                  <a:srgbClr val="2A4A73"/>
                </a:solidFill>
                <a:latin typeface="Calibri"/>
              </a:rPr>
              <a:t>4 · DEPOSITION</a:t>
            </a:r>
          </a:p>
          <a:p>
            <a:pPr algn="l">
              <a:lnSpc>
                <a:spcPct val="106000"/>
              </a:lnSpc>
              <a:spcAft>
                <a:spcPts val="0"/>
              </a:spcAft>
            </a:pPr>
            <a:r>
              <a:rPr sz="1350" b="0" i="0">
                <a:solidFill>
                  <a:srgbClr val="1A1A1A"/>
                </a:solidFill>
                <a:latin typeface="Calibri"/>
              </a:rPr>
              <a:t>Particles adhere to the steel and form a deposit — balanced by shear removal.</a:t>
            </a:r>
          </a:p>
        </p:txBody>
      </p:sp>
      <p:pic>
        <p:nvPicPr>
          <p:cNvPr id="14" name="Picture 13" descr="icon_well.png"/>
          <p:cNvPicPr>
            <a:picLocks noChangeAspect="1"/>
          </p:cNvPicPr>
          <p:nvPr/>
        </p:nvPicPr>
        <p:blipFill>
          <a:blip r:embed="rId4"/>
          <a:stretch>
            <a:fillRect/>
          </a:stretch>
        </p:blipFill>
        <p:spPr>
          <a:xfrm>
            <a:off x="9217152" y="1810512"/>
            <a:ext cx="621792" cy="621792"/>
          </a:xfrm>
          <a:prstGeom prst="rect">
            <a:avLst/>
          </a:prstGeom>
        </p:spPr>
      </p:pic>
      <p:sp>
        <p:nvSpPr>
          <p:cNvPr id="15" name="Rounded Rectangle 14"/>
          <p:cNvSpPr/>
          <p:nvPr/>
        </p:nvSpPr>
        <p:spPr>
          <a:xfrm>
            <a:off x="566928" y="4462272"/>
            <a:ext cx="11064240" cy="1572768"/>
          </a:xfrm>
          <a:prstGeom prst="roundRect">
            <a:avLst>
              <a:gd name="adj" fmla="val 6000"/>
            </a:avLst>
          </a:prstGeom>
          <a:solidFill>
            <a:srgbClr val="FBEAE5"/>
          </a:solidFill>
          <a:ln w="33020">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2000"/>
              </a:lnSpc>
              <a:spcAft>
                <a:spcPts val="400"/>
              </a:spcAft>
            </a:pPr>
            <a:r>
              <a:rPr sz="1800" b="1" i="0">
                <a:solidFill>
                  <a:srgbClr val="B43B2E"/>
                </a:solidFill>
                <a:latin typeface="Calibri"/>
              </a:rPr>
              <a:t>PRECIPITATION ≠ DEPOSITION</a:t>
            </a:r>
          </a:p>
          <a:p>
            <a:pPr algn="ctr">
              <a:lnSpc>
                <a:spcPct val="110000"/>
              </a:lnSpc>
              <a:spcAft>
                <a:spcPts val="0"/>
              </a:spcAft>
            </a:pPr>
            <a:r>
              <a:rPr sz="1400" b="0" i="0">
                <a:solidFill>
                  <a:srgbClr val="1A1A1A"/>
                </a:solidFill>
                <a:latin typeface="Calibri"/>
              </a:rPr>
              <a:t>Many wells carry precipitated asphaltenes to surface with no deposit at all. Deposition is a transport phenomenon on top of the thermodynamic one — governed by adhesion, particle size and shear. This is exactly where prediction is weakest today.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2 · THE SCIENCE</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The envelope: precipitation begins the moment the flowing path crosses the AOP</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10/25 · target 45s · clock 5:40</a:t>
            </a:r>
          </a:p>
        </p:txBody>
      </p:sp>
      <p:pic>
        <p:nvPicPr>
          <p:cNvPr id="7" name="Picture 6" descr="envelope_pt.png"/>
          <p:cNvPicPr>
            <a:picLocks noChangeAspect="1"/>
          </p:cNvPicPr>
          <p:nvPr/>
        </p:nvPicPr>
        <p:blipFill>
          <a:blip r:embed="rId2"/>
          <a:stretch>
            <a:fillRect/>
          </a:stretch>
        </p:blipFill>
        <p:spPr>
          <a:xfrm>
            <a:off x="4224528" y="1645920"/>
            <a:ext cx="7452360" cy="4078224"/>
          </a:xfrm>
          <a:prstGeom prst="rect">
            <a:avLst/>
          </a:prstGeom>
        </p:spPr>
      </p:pic>
      <p:sp>
        <p:nvSpPr>
          <p:cNvPr id="8" name="TextBox 7"/>
          <p:cNvSpPr txBox="1"/>
          <p:nvPr/>
        </p:nvSpPr>
        <p:spPr>
          <a:xfrm>
            <a:off x="566928" y="1691640"/>
            <a:ext cx="3429000" cy="4480560"/>
          </a:xfrm>
          <a:prstGeom prst="rect">
            <a:avLst/>
          </a:prstGeom>
          <a:noFill/>
        </p:spPr>
        <p:txBody>
          <a:bodyPr wrap="square">
            <a:spAutoFit/>
          </a:bodyPr>
          <a:lstStyle/>
          <a:p>
            <a:pPr algn="l">
              <a:lnSpc>
                <a:spcPct val="102000"/>
              </a:lnSpc>
              <a:spcAft>
                <a:spcPts val="200"/>
              </a:spcAft>
            </a:pPr>
            <a:r>
              <a:rPr sz="1350" b="1" i="0">
                <a:solidFill>
                  <a:srgbClr val="1B365D"/>
                </a:solidFill>
                <a:latin typeface="Calibri"/>
              </a:rPr>
              <a:t>▪  AOP:</a:t>
            </a:r>
          </a:p>
          <a:p>
            <a:pPr algn="l">
              <a:lnSpc>
                <a:spcPct val="103000"/>
              </a:lnSpc>
              <a:spcAft>
                <a:spcPts val="700"/>
              </a:spcAft>
            </a:pPr>
            <a:r>
              <a:rPr sz="1300" b="0" i="0">
                <a:solidFill>
                  <a:srgbClr val="1A1A1A"/>
                </a:solidFill>
                <a:latin typeface="Calibri"/>
              </a:rPr>
              <a:t>asphaltene onset pressure — above the line the oil is stable.</a:t>
            </a:r>
          </a:p>
          <a:p>
            <a:pPr algn="l">
              <a:lnSpc>
                <a:spcPct val="102000"/>
              </a:lnSpc>
              <a:spcAft>
                <a:spcPts val="200"/>
              </a:spcAft>
            </a:pPr>
            <a:r>
              <a:rPr sz="1350" b="1" i="0">
                <a:solidFill>
                  <a:srgbClr val="1B365D"/>
                </a:solidFill>
                <a:latin typeface="Calibri"/>
              </a:rPr>
              <a:t>▪  Above the bubble point:</a:t>
            </a:r>
          </a:p>
          <a:p>
            <a:pPr algn="l">
              <a:lnSpc>
                <a:spcPct val="103000"/>
              </a:lnSpc>
              <a:spcAft>
                <a:spcPts val="700"/>
              </a:spcAft>
            </a:pPr>
            <a:r>
              <a:rPr sz="1300" b="0" i="0">
                <a:solidFill>
                  <a:srgbClr val="1A1A1A"/>
                </a:solidFill>
                <a:latin typeface="Calibri"/>
              </a:rPr>
              <a:t>the upper onset sits above Pb and precipitation peaks near Pb — instability windows reach thousands of psi [6, 15].</a:t>
            </a:r>
          </a:p>
          <a:p>
            <a:pPr algn="l">
              <a:lnSpc>
                <a:spcPct val="102000"/>
              </a:lnSpc>
              <a:spcAft>
                <a:spcPts val="200"/>
              </a:spcAft>
            </a:pPr>
            <a:r>
              <a:rPr sz="1350" b="1" i="0">
                <a:solidFill>
                  <a:srgbClr val="1B365D"/>
                </a:solidFill>
                <a:latin typeface="Calibri"/>
              </a:rPr>
              <a:t>▪  Below Pb:</a:t>
            </a:r>
          </a:p>
          <a:p>
            <a:pPr algn="l">
              <a:lnSpc>
                <a:spcPct val="103000"/>
              </a:lnSpc>
              <a:spcAft>
                <a:spcPts val="700"/>
              </a:spcAft>
            </a:pPr>
            <a:r>
              <a:rPr sz="1300" b="0" i="0">
                <a:solidFill>
                  <a:srgbClr val="1A1A1A"/>
                </a:solidFill>
                <a:latin typeface="Calibri"/>
              </a:rPr>
              <a:t>asphaltenes partly re-dissolve; some oils then show a second, lower onset (backup slide).</a:t>
            </a:r>
          </a:p>
          <a:p>
            <a:pPr algn="l">
              <a:lnSpc>
                <a:spcPct val="102000"/>
              </a:lnSpc>
              <a:spcAft>
                <a:spcPts val="200"/>
              </a:spcAft>
            </a:pPr>
            <a:r>
              <a:rPr sz="1350" b="1" i="0">
                <a:solidFill>
                  <a:srgbClr val="1B365D"/>
                </a:solidFill>
                <a:latin typeface="Calibri"/>
              </a:rPr>
              <a:t>▪  Unstable region:</a:t>
            </a:r>
          </a:p>
          <a:p>
            <a:pPr algn="l">
              <a:lnSpc>
                <a:spcPct val="103000"/>
              </a:lnSpc>
              <a:spcAft>
                <a:spcPts val="700"/>
              </a:spcAft>
            </a:pPr>
            <a:r>
              <a:rPr sz="1300" b="0" i="0">
                <a:solidFill>
                  <a:srgbClr val="1A1A1A"/>
                </a:solidFill>
                <a:latin typeface="Calibri"/>
              </a:rPr>
              <a:t>below the AOP line, precipitation is thermodynamically possible.</a:t>
            </a:r>
          </a:p>
          <a:p>
            <a:pPr algn="l">
              <a:lnSpc>
                <a:spcPct val="102000"/>
              </a:lnSpc>
              <a:spcAft>
                <a:spcPts val="200"/>
              </a:spcAft>
            </a:pPr>
            <a:r>
              <a:rPr sz="1350" b="1" i="0">
                <a:solidFill>
                  <a:srgbClr val="1B365D"/>
                </a:solidFill>
                <a:latin typeface="Calibri"/>
              </a:rPr>
              <a:t>▪  The flowing path:</a:t>
            </a:r>
          </a:p>
          <a:p>
            <a:pPr algn="l">
              <a:lnSpc>
                <a:spcPct val="103000"/>
              </a:lnSpc>
              <a:spcAft>
                <a:spcPts val="700"/>
              </a:spcAft>
            </a:pPr>
            <a:r>
              <a:rPr sz="1300" b="0" i="0">
                <a:solidFill>
                  <a:srgbClr val="1A1A1A"/>
                </a:solidFill>
                <a:latin typeface="Calibri"/>
              </a:rPr>
              <a:t>as oil rises, P and T fall together — the crossing is the onset.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2 · THE SCIENCE</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How risk is measured: screening first, onset measurement second</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11/25 · target 40s · clock 6:20</a:t>
            </a:r>
          </a:p>
        </p:txBody>
      </p:sp>
      <p:graphicFrame>
        <p:nvGraphicFramePr>
          <p:cNvPr id="7" name="Table 6"/>
          <p:cNvGraphicFramePr>
            <a:graphicFrameLocks noGrp="1"/>
          </p:cNvGraphicFramePr>
          <p:nvPr/>
        </p:nvGraphicFramePr>
        <p:xfrm>
          <a:off x="566928" y="1627632"/>
          <a:ext cx="11064238" cy="3511296"/>
        </p:xfrm>
        <a:graphic>
          <a:graphicData uri="http://schemas.openxmlformats.org/drawingml/2006/table">
            <a:tbl>
              <a:tblPr>
                <a:tableStyleId>{5C22544A-7EE6-4342-B048-85BDC9FD1C3A}</a:tableStyleId>
              </a:tblPr>
              <a:tblGrid>
                <a:gridCol w="3087694"/>
                <a:gridCol w="4717311"/>
                <a:gridCol w="3259233"/>
              </a:tblGrid>
              <a:tr h="585216">
                <a:tc>
                  <a:txBody>
                    <a:bodyPr wrap="square"/>
                    <a:lstStyle/>
                    <a:p>
                      <a:r>
                        <a:rPr sz="1250" b="1">
                          <a:solidFill>
                            <a:srgbClr val="FFFFFF"/>
                          </a:solidFill>
                          <a:latin typeface="Calibri"/>
                        </a:rPr>
                        <a:t>Method</a:t>
                      </a:r>
                    </a:p>
                  </a:txBody>
                  <a:tcPr marL="73152" marR="54864" marT="18288" marB="18288" anchor="ctr">
                    <a:solidFill>
                      <a:srgbClr val="1B365D"/>
                    </a:solidFill>
                  </a:tcPr>
                </a:tc>
                <a:tc>
                  <a:txBody>
                    <a:bodyPr wrap="square"/>
                    <a:lstStyle/>
                    <a:p>
                      <a:r>
                        <a:rPr sz="1250" b="1">
                          <a:solidFill>
                            <a:srgbClr val="FFFFFF"/>
                          </a:solidFill>
                          <a:latin typeface="Calibri"/>
                        </a:rPr>
                        <a:t>What it gives you</a:t>
                      </a:r>
                    </a:p>
                  </a:txBody>
                  <a:tcPr marL="73152" marR="54864" marT="18288" marB="18288" anchor="ctr">
                    <a:solidFill>
                      <a:srgbClr val="1B365D"/>
                    </a:solidFill>
                  </a:tcPr>
                </a:tc>
                <a:tc>
                  <a:txBody>
                    <a:bodyPr wrap="square"/>
                    <a:lstStyle/>
                    <a:p>
                      <a:r>
                        <a:rPr sz="1250" b="1">
                          <a:solidFill>
                            <a:srgbClr val="FFFFFF"/>
                          </a:solidFill>
                          <a:latin typeface="Calibri"/>
                        </a:rPr>
                        <a:t>Practical role</a:t>
                      </a:r>
                    </a:p>
                  </a:txBody>
                  <a:tcPr marL="73152" marR="54864" marT="18288" marB="18288" anchor="ctr">
                    <a:solidFill>
                      <a:srgbClr val="1B365D"/>
                    </a:solidFill>
                  </a:tcPr>
                </a:tc>
              </a:tr>
              <a:tr h="585216">
                <a:tc>
                  <a:txBody>
                    <a:bodyPr wrap="square"/>
                    <a:lstStyle/>
                    <a:p>
                      <a:r>
                        <a:rPr sz="1200" b="0">
                          <a:solidFill>
                            <a:srgbClr val="1A1A1A"/>
                          </a:solidFill>
                          <a:latin typeface="Calibri"/>
                        </a:rPr>
                        <a:t>SARA analysis (ASTM D2007-class)</a:t>
                      </a:r>
                    </a:p>
                  </a:txBody>
                  <a:tcPr marL="73152" marR="54864" marT="18288" marB="18288" anchor="ctr">
                    <a:solidFill>
                      <a:srgbClr val="FFFFFF"/>
                    </a:solidFill>
                  </a:tcPr>
                </a:tc>
                <a:tc>
                  <a:txBody>
                    <a:bodyPr wrap="square"/>
                    <a:lstStyle/>
                    <a:p>
                      <a:r>
                        <a:rPr sz="1200" b="0">
                          <a:solidFill>
                            <a:srgbClr val="1A1A1A"/>
                          </a:solidFill>
                          <a:latin typeface="Calibri"/>
                        </a:rPr>
                        <a:t>the four fractions; feeds CII and solubility modelling</a:t>
                      </a:r>
                    </a:p>
                  </a:txBody>
                  <a:tcPr marL="73152" marR="54864" marT="18288" marB="18288" anchor="ctr">
                    <a:solidFill>
                      <a:srgbClr val="FFFFFF"/>
                    </a:solidFill>
                  </a:tcPr>
                </a:tc>
                <a:tc>
                  <a:txBody>
                    <a:bodyPr wrap="square"/>
                    <a:lstStyle/>
                    <a:p>
                      <a:r>
                        <a:rPr sz="1200" b="0">
                          <a:solidFill>
                            <a:srgbClr val="1A1A1A"/>
                          </a:solidFill>
                          <a:latin typeface="Calibri"/>
                        </a:rPr>
                        <a:t>first-pass screen on any new crude [12]</a:t>
                      </a:r>
                    </a:p>
                  </a:txBody>
                  <a:tcPr marL="73152" marR="54864" marT="18288" marB="18288" anchor="ctr">
                    <a:solidFill>
                      <a:srgbClr val="FFFFFF"/>
                    </a:solidFill>
                  </a:tcPr>
                </a:tc>
              </a:tr>
              <a:tr h="585216">
                <a:tc>
                  <a:txBody>
                    <a:bodyPr wrap="square"/>
                    <a:lstStyle/>
                    <a:p>
                      <a:r>
                        <a:rPr sz="1200" b="0">
                          <a:solidFill>
                            <a:srgbClr val="1A1A1A"/>
                          </a:solidFill>
                          <a:latin typeface="Calibri"/>
                        </a:rPr>
                        <a:t>CII / stability indices</a:t>
                      </a:r>
                    </a:p>
                  </a:txBody>
                  <a:tcPr marL="73152" marR="54864" marT="18288" marB="18288" anchor="ctr">
                    <a:solidFill>
                      <a:srgbClr val="F8FAFC"/>
                    </a:solidFill>
                  </a:tcPr>
                </a:tc>
                <a:tc>
                  <a:txBody>
                    <a:bodyPr wrap="square"/>
                    <a:lstStyle/>
                    <a:p>
                      <a:r>
                        <a:rPr sz="1200" b="0">
                          <a:solidFill>
                            <a:srgbClr val="1A1A1A"/>
                          </a:solidFill>
                          <a:latin typeface="Calibri"/>
                        </a:rPr>
                        <a:t>a single number: stable vs unstable tendency</a:t>
                      </a:r>
                    </a:p>
                  </a:txBody>
                  <a:tcPr marL="73152" marR="54864" marT="18288" marB="18288" anchor="ctr">
                    <a:solidFill>
                      <a:srgbClr val="F8FAFC"/>
                    </a:solidFill>
                  </a:tcPr>
                </a:tc>
                <a:tc>
                  <a:txBody>
                    <a:bodyPr wrap="square"/>
                    <a:lstStyle/>
                    <a:p>
                      <a:r>
                        <a:rPr sz="1200" b="0">
                          <a:solidFill>
                            <a:srgbClr val="1A1A1A"/>
                          </a:solidFill>
                          <a:latin typeface="Calibri"/>
                        </a:rPr>
                        <a:t>flags the crude before any lab work [5]</a:t>
                      </a:r>
                    </a:p>
                  </a:txBody>
                  <a:tcPr marL="73152" marR="54864" marT="18288" marB="18288" anchor="ctr">
                    <a:solidFill>
                      <a:srgbClr val="F8FAFC"/>
                    </a:solidFill>
                  </a:tcPr>
                </a:tc>
              </a:tr>
              <a:tr h="585216">
                <a:tc>
                  <a:txBody>
                    <a:bodyPr wrap="square"/>
                    <a:lstStyle/>
                    <a:p>
                      <a:r>
                        <a:rPr sz="1200" b="0">
                          <a:solidFill>
                            <a:srgbClr val="1A1A1A"/>
                          </a:solidFill>
                          <a:latin typeface="Calibri"/>
                        </a:rPr>
                        <a:t>De Boer plot</a:t>
                      </a:r>
                    </a:p>
                  </a:txBody>
                  <a:tcPr marL="73152" marR="54864" marT="18288" marB="18288" anchor="ctr">
                    <a:solidFill>
                      <a:srgbClr val="FFFFFF"/>
                    </a:solidFill>
                  </a:tcPr>
                </a:tc>
                <a:tc>
                  <a:txBody>
                    <a:bodyPr wrap="square"/>
                    <a:lstStyle/>
                    <a:p>
                      <a:r>
                        <a:rPr sz="1200" b="0">
                          <a:solidFill>
                            <a:srgbClr val="1A1A1A"/>
                          </a:solidFill>
                          <a:latin typeface="Calibri"/>
                        </a:rPr>
                        <a:t>AOP vs bubble point vs reservoir pressure</a:t>
                      </a:r>
                    </a:p>
                  </a:txBody>
                  <a:tcPr marL="73152" marR="54864" marT="18288" marB="18288" anchor="ctr">
                    <a:solidFill>
                      <a:srgbClr val="FFFFFF"/>
                    </a:solidFill>
                  </a:tcPr>
                </a:tc>
                <a:tc>
                  <a:txBody>
                    <a:bodyPr wrap="square"/>
                    <a:lstStyle/>
                    <a:p>
                      <a:r>
                        <a:rPr sz="1200" b="0">
                          <a:solidFill>
                            <a:srgbClr val="1A1A1A"/>
                          </a:solidFill>
                          <a:latin typeface="Calibri"/>
                        </a:rPr>
                        <a:t>field-level screening; if AOP &gt; Pb, expect problems [6]</a:t>
                      </a:r>
                    </a:p>
                  </a:txBody>
                  <a:tcPr marL="73152" marR="54864" marT="18288" marB="18288" anchor="ctr">
                    <a:solidFill>
                      <a:srgbClr val="FFFFFF"/>
                    </a:solidFill>
                  </a:tcPr>
                </a:tc>
              </a:tr>
              <a:tr h="585216">
                <a:tc>
                  <a:txBody>
                    <a:bodyPr wrap="square"/>
                    <a:lstStyle/>
                    <a:p>
                      <a:r>
                        <a:rPr sz="1200" b="0">
                          <a:solidFill>
                            <a:srgbClr val="1A1A1A"/>
                          </a:solidFill>
                          <a:latin typeface="Calibri"/>
                        </a:rPr>
                        <a:t>Automated heptane titration (ASTM D6703)</a:t>
                      </a:r>
                    </a:p>
                  </a:txBody>
                  <a:tcPr marL="73152" marR="54864" marT="18288" marB="18288" anchor="ctr">
                    <a:solidFill>
                      <a:srgbClr val="F8FAFC"/>
                    </a:solidFill>
                  </a:tcPr>
                </a:tc>
                <a:tc>
                  <a:txBody>
                    <a:bodyPr wrap="square"/>
                    <a:lstStyle/>
                    <a:p>
                      <a:r>
                        <a:rPr sz="1200" b="0">
                          <a:solidFill>
                            <a:srgbClr val="1A1A1A"/>
                          </a:solidFill>
                          <a:latin typeface="Calibri"/>
                        </a:rPr>
                        <a:t>the asphaltene precipitation onset in titrations</a:t>
                      </a:r>
                    </a:p>
                  </a:txBody>
                  <a:tcPr marL="73152" marR="54864" marT="18288" marB="18288" anchor="ctr">
                    <a:solidFill>
                      <a:srgbClr val="F8FAFC"/>
                    </a:solidFill>
                  </a:tcPr>
                </a:tc>
                <a:tc>
                  <a:txBody>
                    <a:bodyPr wrap="square"/>
                    <a:lstStyle/>
                    <a:p>
                      <a:r>
                        <a:rPr sz="1200" b="0">
                          <a:solidFill>
                            <a:srgbClr val="1A1A1A"/>
                          </a:solidFill>
                          <a:latin typeface="Calibri"/>
                        </a:rPr>
                        <a:t>quantitative ranking of crudes and blends [12]</a:t>
                      </a:r>
                    </a:p>
                  </a:txBody>
                  <a:tcPr marL="73152" marR="54864" marT="18288" marB="18288" anchor="ctr">
                    <a:solidFill>
                      <a:srgbClr val="F8FAFC"/>
                    </a:solidFill>
                  </a:tcPr>
                </a:tc>
              </a:tr>
              <a:tr h="585216">
                <a:tc>
                  <a:txBody>
                    <a:bodyPr wrap="square"/>
                    <a:lstStyle/>
                    <a:p>
                      <a:r>
                        <a:rPr sz="1200" b="0">
                          <a:solidFill>
                            <a:srgbClr val="1A1A1A"/>
                          </a:solidFill>
                          <a:latin typeface="Calibri"/>
                        </a:rPr>
                        <a:t>High-pressure onset measurement (NIR / light scattering in a PVT cell)</a:t>
                      </a:r>
                    </a:p>
                  </a:txBody>
                  <a:tcPr marL="73152" marR="54864" marT="18288" marB="18288" anchor="ctr">
                    <a:solidFill>
                      <a:srgbClr val="FFFFFF"/>
                    </a:solidFill>
                  </a:tcPr>
                </a:tc>
                <a:tc>
                  <a:txBody>
                    <a:bodyPr wrap="square"/>
                    <a:lstStyle/>
                    <a:p>
                      <a:r>
                        <a:rPr sz="1200" b="0">
                          <a:solidFill>
                            <a:srgbClr val="1A1A1A"/>
                          </a:solidFill>
                          <a:latin typeface="Calibri"/>
                        </a:rPr>
                        <a:t>the AOP as a function of temperature — the input a simulator must match</a:t>
                      </a:r>
                    </a:p>
                  </a:txBody>
                  <a:tcPr marL="73152" marR="54864" marT="18288" marB="18288" anchor="ctr">
                    <a:solidFill>
                      <a:srgbClr val="FFFFFF"/>
                    </a:solidFill>
                  </a:tcPr>
                </a:tc>
                <a:tc>
                  <a:txBody>
                    <a:bodyPr wrap="square"/>
                    <a:lstStyle/>
                    <a:p>
                      <a:r>
                        <a:rPr sz="1200" b="0">
                          <a:solidFill>
                            <a:srgbClr val="1A1A1A"/>
                          </a:solidFill>
                          <a:latin typeface="Calibri"/>
                        </a:rPr>
                        <a:t>the calibration anchor for every model [4]</a:t>
                      </a:r>
                    </a:p>
                  </a:txBody>
                  <a:tcPr marL="73152" marR="54864" marT="18288" marB="18288" anchor="ctr">
                    <a:solidFill>
                      <a:srgbClr val="FFFFFF"/>
                    </a:solidFill>
                  </a:tcPr>
                </a:tc>
              </a:tr>
            </a:tbl>
          </a:graphicData>
        </a:graphic>
      </p:graphicFrame>
      <p:sp>
        <p:nvSpPr>
          <p:cNvPr id="8" name="TextBox 7"/>
          <p:cNvSpPr txBox="1"/>
          <p:nvPr/>
        </p:nvSpPr>
        <p:spPr>
          <a:xfrm>
            <a:off x="566928" y="5577840"/>
            <a:ext cx="11064240" cy="731520"/>
          </a:xfrm>
          <a:prstGeom prst="rect">
            <a:avLst/>
          </a:prstGeom>
          <a:noFill/>
        </p:spPr>
        <p:txBody>
          <a:bodyPr wrap="square">
            <a:spAutoFit/>
          </a:bodyPr>
          <a:lstStyle/>
          <a:p>
            <a:pPr algn="l">
              <a:lnSpc>
                <a:spcPct val="108000"/>
              </a:lnSpc>
              <a:spcAft>
                <a:spcPts val="0"/>
              </a:spcAft>
            </a:pPr>
            <a:r>
              <a:rPr sz="1400" b="0" i="1">
                <a:solidFill>
                  <a:srgbClr val="4A5568"/>
                </a:solidFill>
                <a:latin typeface="Calibri"/>
              </a:rPr>
              <a:t>The best field practice uses several: a screening number for early decisions, and a measured AOP curve to calibrate the prediction. My project uses both.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2 · THE SCIENCE</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What triggers it in the wellbore — and where deposits actually form</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12/25 · target 45s · clock 7:05</a:t>
            </a:r>
          </a:p>
        </p:txBody>
      </p:sp>
      <p:sp>
        <p:nvSpPr>
          <p:cNvPr id="7" name="TextBox 6"/>
          <p:cNvSpPr txBox="1"/>
          <p:nvPr/>
        </p:nvSpPr>
        <p:spPr>
          <a:xfrm>
            <a:off x="566928" y="1645920"/>
            <a:ext cx="5623560" cy="4480560"/>
          </a:xfrm>
          <a:prstGeom prst="rect">
            <a:avLst/>
          </a:prstGeom>
          <a:noFill/>
        </p:spPr>
        <p:txBody>
          <a:bodyPr wrap="square">
            <a:spAutoFit/>
          </a:bodyPr>
          <a:lstStyle/>
          <a:p>
            <a:pPr algn="l">
              <a:lnSpc>
                <a:spcPct val="102000"/>
              </a:lnSpc>
              <a:spcAft>
                <a:spcPts val="200"/>
              </a:spcAft>
            </a:pPr>
            <a:r>
              <a:rPr sz="1450" b="1" i="0">
                <a:solidFill>
                  <a:srgbClr val="1B365D"/>
                </a:solidFill>
                <a:latin typeface="Calibri"/>
              </a:rPr>
              <a:t>▪  Pressure drop — the main trigger.</a:t>
            </a:r>
          </a:p>
          <a:p>
            <a:pPr algn="l">
              <a:lnSpc>
                <a:spcPct val="103000"/>
              </a:lnSpc>
              <a:spcAft>
                <a:spcPts val="600"/>
              </a:spcAft>
            </a:pPr>
            <a:r>
              <a:rPr sz="1350" b="0" i="0">
                <a:solidFill>
                  <a:srgbClr val="1A1A1A"/>
                </a:solidFill>
                <a:latin typeface="Calibri"/>
              </a:rPr>
              <a:t>As oil rises, pressure falls; when the path crosses the AOP, precipitation begins.</a:t>
            </a:r>
          </a:p>
          <a:p>
            <a:pPr algn="l">
              <a:lnSpc>
                <a:spcPct val="102000"/>
              </a:lnSpc>
              <a:spcAft>
                <a:spcPts val="200"/>
              </a:spcAft>
            </a:pPr>
            <a:r>
              <a:rPr sz="1450" b="1" i="0">
                <a:solidFill>
                  <a:srgbClr val="1B365D"/>
                </a:solidFill>
                <a:latin typeface="Calibri"/>
              </a:rPr>
              <a:t>▪  Gas lift changes the solvent.</a:t>
            </a:r>
          </a:p>
          <a:p>
            <a:pPr algn="l">
              <a:lnSpc>
                <a:spcPct val="103000"/>
              </a:lnSpc>
              <a:spcAft>
                <a:spcPts val="600"/>
              </a:spcAft>
            </a:pPr>
            <a:r>
              <a:rPr sz="1350" b="0" i="0">
                <a:solidFill>
                  <a:srgbClr val="1A1A1A"/>
                </a:solidFill>
                <a:latin typeface="Calibri"/>
              </a:rPr>
              <a:t>Injected gas strips resins off the aggregates; the oil loses solvency.</a:t>
            </a:r>
          </a:p>
          <a:p>
            <a:pPr algn="l">
              <a:lnSpc>
                <a:spcPct val="102000"/>
              </a:lnSpc>
              <a:spcAft>
                <a:spcPts val="200"/>
              </a:spcAft>
            </a:pPr>
            <a:r>
              <a:rPr sz="1450" b="1" i="0">
                <a:solidFill>
                  <a:srgbClr val="1B365D"/>
                </a:solidFill>
                <a:latin typeface="Calibri"/>
              </a:rPr>
              <a:t>▪  Gas breakthrough / CO₂ / rich gas</a:t>
            </a:r>
          </a:p>
          <a:p>
            <a:pPr algn="l">
              <a:lnSpc>
                <a:spcPct val="103000"/>
              </a:lnSpc>
              <a:spcAft>
                <a:spcPts val="600"/>
              </a:spcAft>
            </a:pPr>
            <a:r>
              <a:rPr sz="1350" b="0" i="0">
                <a:solidFill>
                  <a:srgbClr val="1A1A1A"/>
                </a:solidFill>
                <a:latin typeface="Calibri"/>
              </a:rPr>
              <a:t>shifts the envelope — CO₂ is a documented destabiliser.</a:t>
            </a:r>
          </a:p>
          <a:p>
            <a:pPr algn="l">
              <a:lnSpc>
                <a:spcPct val="102000"/>
              </a:lnSpc>
              <a:spcAft>
                <a:spcPts val="200"/>
              </a:spcAft>
            </a:pPr>
            <a:r>
              <a:rPr sz="1450" b="1" i="0">
                <a:solidFill>
                  <a:srgbClr val="1B365D"/>
                </a:solidFill>
                <a:latin typeface="Calibri"/>
              </a:rPr>
              <a:t>▪  Commingling and blending</a:t>
            </a:r>
          </a:p>
          <a:p>
            <a:pPr algn="l">
              <a:lnSpc>
                <a:spcPct val="103000"/>
              </a:lnSpc>
              <a:spcAft>
                <a:spcPts val="600"/>
              </a:spcAft>
            </a:pPr>
            <a:r>
              <a:rPr sz="1350" b="0" i="0">
                <a:solidFill>
                  <a:srgbClr val="1A1A1A"/>
                </a:solidFill>
                <a:latin typeface="Calibri"/>
              </a:rPr>
              <a:t>individually stable crudes can form an unstable mixture.</a:t>
            </a:r>
          </a:p>
          <a:p>
            <a:pPr algn="l">
              <a:lnSpc>
                <a:spcPct val="102000"/>
              </a:lnSpc>
              <a:spcAft>
                <a:spcPts val="200"/>
              </a:spcAft>
            </a:pPr>
            <a:r>
              <a:rPr sz="1450" b="1" i="0">
                <a:solidFill>
                  <a:srgbClr val="1B365D"/>
                </a:solidFill>
                <a:latin typeface="Calibri"/>
              </a:rPr>
              <a:t>▪  Acid jobs and workovers</a:t>
            </a:r>
          </a:p>
          <a:p>
            <a:pPr algn="l">
              <a:lnSpc>
                <a:spcPct val="103000"/>
              </a:lnSpc>
              <a:spcAft>
                <a:spcPts val="600"/>
              </a:spcAft>
            </a:pPr>
            <a:r>
              <a:rPr sz="1350" b="0" i="0">
                <a:solidFill>
                  <a:srgbClr val="1A1A1A"/>
                </a:solidFill>
                <a:latin typeface="Calibri"/>
              </a:rPr>
              <a:t>spent acids destabilise the near-well region.</a:t>
            </a:r>
          </a:p>
        </p:txBody>
      </p:sp>
      <p:sp>
        <p:nvSpPr>
          <p:cNvPr id="8" name="Rounded Rectangle 7"/>
          <p:cNvSpPr/>
          <p:nvPr/>
        </p:nvSpPr>
        <p:spPr>
          <a:xfrm>
            <a:off x="6400800" y="1691640"/>
            <a:ext cx="5212080" cy="3977639"/>
          </a:xfrm>
          <a:prstGeom prst="roundRect">
            <a:avLst>
              <a:gd name="adj" fmla="val 5000"/>
            </a:avLst>
          </a:prstGeom>
          <a:solidFill>
            <a:srgbClr val="F8FAFC"/>
          </a:solidFill>
          <a:ln w="19050">
            <a:solidFill>
              <a:srgbClr val="E0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800"/>
              </a:spcAft>
            </a:pPr>
            <a:r>
              <a:rPr sz="1350" b="1" i="0">
                <a:solidFill>
                  <a:srgbClr val="B43B2E"/>
                </a:solidFill>
                <a:latin typeface="Calibri"/>
              </a:rPr>
              <a:t>CORRECTING A CLASSIC MISCONCEPTION</a:t>
            </a:r>
          </a:p>
          <a:p>
            <a:pPr algn="l">
              <a:lnSpc>
                <a:spcPct val="108000"/>
              </a:lnSpc>
              <a:spcAft>
                <a:spcPts val="800"/>
              </a:spcAft>
            </a:pPr>
            <a:r>
              <a:rPr sz="1400" b="0" i="0">
                <a:solidFill>
                  <a:srgbClr val="1A1A1A"/>
                </a:solidFill>
                <a:latin typeface="Calibri"/>
              </a:rPr>
              <a:t>“Deposits form at the top of the well, where the pressure drops fastest.”  Not true — the pressure gradient along the tubing is roughly steady, so the deposit forms wherever the flowing path first crosses the envelope. In deep, hot wells that is often TENS of metres — sometimes a kilometre — below the wellhead.</a:t>
            </a:r>
          </a:p>
          <a:p>
            <a:pPr algn="l">
              <a:lnSpc>
                <a:spcPct val="108000"/>
              </a:lnSpc>
              <a:spcAft>
                <a:spcPts val="800"/>
              </a:spcAft>
            </a:pPr>
            <a:r>
              <a:rPr sz="1400" b="1" i="0">
                <a:solidFill>
                  <a:srgbClr val="1B365D"/>
                </a:solidFill>
                <a:latin typeface="Calibri"/>
              </a:rPr>
              <a:t>Why it matters: that depth decides where you inject inhibitor — and the field case study (next slide) shows what happens when the injection point is too shallow.</a:t>
            </a:r>
          </a:p>
          <a:p>
            <a:pPr algn="l">
              <a:lnSpc>
                <a:spcPct val="102000"/>
              </a:lnSpc>
              <a:spcAft>
                <a:spcPts val="0"/>
              </a:spcAft>
            </a:pPr>
            <a:r>
              <a:rPr sz="1300" b="0" i="1">
                <a:solidFill>
                  <a:srgbClr val="0D7377"/>
                </a:solidFill>
                <a:latin typeface="Calibri"/>
              </a:rPr>
              <a:t>NEXT  →  the field case that shows the cost of getting that depth wrong.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3 · FIELD EVIDENCE</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GoM case study: injection placement above the onset left 3,400 ft unprotected</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13/25 · target 55s · clock 8:00</a:t>
            </a:r>
          </a:p>
        </p:txBody>
      </p:sp>
      <p:pic>
        <p:nvPicPr>
          <p:cNvPr id="7" name="Picture 6" descr="depth_prediction.png"/>
          <p:cNvPicPr>
            <a:picLocks noChangeAspect="1"/>
          </p:cNvPicPr>
          <p:nvPr/>
        </p:nvPicPr>
        <p:blipFill>
          <a:blip r:embed="rId2"/>
          <a:stretch>
            <a:fillRect/>
          </a:stretch>
        </p:blipFill>
        <p:spPr>
          <a:xfrm>
            <a:off x="4224528" y="1645920"/>
            <a:ext cx="7452360" cy="4078224"/>
          </a:xfrm>
          <a:prstGeom prst="rect">
            <a:avLst/>
          </a:prstGeom>
        </p:spPr>
      </p:pic>
      <p:sp>
        <p:nvSpPr>
          <p:cNvPr id="8" name="TextBox 7"/>
          <p:cNvSpPr txBox="1"/>
          <p:nvPr/>
        </p:nvSpPr>
        <p:spPr>
          <a:xfrm>
            <a:off x="566928" y="1691640"/>
            <a:ext cx="3429000" cy="4480560"/>
          </a:xfrm>
          <a:prstGeom prst="rect">
            <a:avLst/>
          </a:prstGeom>
          <a:noFill/>
        </p:spPr>
        <p:txBody>
          <a:bodyPr wrap="square">
            <a:spAutoFit/>
          </a:bodyPr>
          <a:lstStyle/>
          <a:p>
            <a:pPr algn="l">
              <a:lnSpc>
                <a:spcPct val="102000"/>
              </a:lnSpc>
              <a:spcAft>
                <a:spcPts val="200"/>
              </a:spcAft>
            </a:pPr>
            <a:r>
              <a:rPr sz="1350" b="1" i="0">
                <a:solidFill>
                  <a:srgbClr val="1B365D"/>
                </a:solidFill>
                <a:latin typeface="Calibri"/>
              </a:rPr>
              <a:t>▪  The well  (all depths labelled on the figure):</a:t>
            </a:r>
          </a:p>
          <a:p>
            <a:pPr algn="l">
              <a:lnSpc>
                <a:spcPct val="103000"/>
              </a:lnSpc>
              <a:spcAft>
                <a:spcPts val="600"/>
              </a:spcAft>
            </a:pPr>
            <a:r>
              <a:rPr sz="1150" b="0" i="0">
                <a:solidFill>
                  <a:srgbClr val="1A1A1A"/>
                </a:solidFill>
                <a:latin typeface="Calibri"/>
              </a:rPr>
              <a:t>deepwater GoM; perfs 17,700–18,000 ft; mandrel 14,600 ft [4].</a:t>
            </a:r>
          </a:p>
          <a:p>
            <a:pPr algn="l">
              <a:lnSpc>
                <a:spcPct val="102000"/>
              </a:lnSpc>
              <a:spcAft>
                <a:spcPts val="200"/>
              </a:spcAft>
            </a:pPr>
            <a:r>
              <a:rPr sz="1350" b="1" i="0">
                <a:solidFill>
                  <a:srgbClr val="1B365D"/>
                </a:solidFill>
                <a:latin typeface="Calibri"/>
              </a:rPr>
              <a:t>▪  The problem:</a:t>
            </a:r>
          </a:p>
          <a:p>
            <a:pPr algn="l">
              <a:lnSpc>
                <a:spcPct val="103000"/>
              </a:lnSpc>
              <a:spcAft>
                <a:spcPts val="600"/>
              </a:spcAft>
            </a:pPr>
            <a:r>
              <a:rPr sz="1150" b="0" i="0">
                <a:solidFill>
                  <a:srgbClr val="1A1A1A"/>
                </a:solidFill>
                <a:latin typeface="Calibri"/>
              </a:rPr>
              <a:t>3,400 ft of tubing BELOW the mandrel had no chemical protection.</a:t>
            </a:r>
          </a:p>
          <a:p>
            <a:pPr algn="l">
              <a:lnSpc>
                <a:spcPct val="102000"/>
              </a:lnSpc>
              <a:spcAft>
                <a:spcPts val="200"/>
              </a:spcAft>
            </a:pPr>
            <a:r>
              <a:rPr sz="1350" b="1" i="0">
                <a:solidFill>
                  <a:srgbClr val="1B365D"/>
                </a:solidFill>
                <a:latin typeface="Calibri"/>
              </a:rPr>
              <a:t>▪  The model:</a:t>
            </a:r>
          </a:p>
          <a:p>
            <a:pPr algn="l">
              <a:lnSpc>
                <a:spcPct val="103000"/>
              </a:lnSpc>
              <a:spcAft>
                <a:spcPts val="600"/>
              </a:spcAft>
            </a:pPr>
            <a:r>
              <a:rPr sz="1150" b="0" i="0">
                <a:solidFill>
                  <a:srgbClr val="1A1A1A"/>
                </a:solidFill>
                <a:latin typeface="Calibri"/>
              </a:rPr>
              <a:t>effective tubing ID fell from 2.3 in to 1.35 in while producing.</a:t>
            </a:r>
          </a:p>
          <a:p>
            <a:pPr algn="l">
              <a:lnSpc>
                <a:spcPct val="102000"/>
              </a:lnSpc>
              <a:spcAft>
                <a:spcPts val="200"/>
              </a:spcAft>
            </a:pPr>
            <a:r>
              <a:rPr sz="1350" b="1" i="0">
                <a:solidFill>
                  <a:srgbClr val="1B365D"/>
                </a:solidFill>
                <a:latin typeface="Calibri"/>
              </a:rPr>
              <a:t>▪  The fix:</a:t>
            </a:r>
          </a:p>
          <a:p>
            <a:pPr algn="l">
              <a:lnSpc>
                <a:spcPct val="103000"/>
              </a:lnSpc>
              <a:spcAft>
                <a:spcPts val="600"/>
              </a:spcAft>
            </a:pPr>
            <a:r>
              <a:rPr sz="1150" b="0" i="0">
                <a:solidFill>
                  <a:srgbClr val="1A1A1A"/>
                </a:solidFill>
                <a:latin typeface="Calibri"/>
              </a:rPr>
              <a:t>solvent soak, then continuous inhibitor — 750 ppm, stabilised near 500 ppm.</a:t>
            </a:r>
          </a:p>
          <a:p>
            <a:pPr algn="l">
              <a:lnSpc>
                <a:spcPct val="102000"/>
              </a:lnSpc>
              <a:spcAft>
                <a:spcPts val="200"/>
              </a:spcAft>
            </a:pPr>
            <a:r>
              <a:rPr sz="1350" b="1" i="0">
                <a:solidFill>
                  <a:srgbClr val="1B365D"/>
                </a:solidFill>
                <a:latin typeface="Calibri"/>
              </a:rPr>
              <a:t>▪  The result:</a:t>
            </a:r>
          </a:p>
          <a:p>
            <a:pPr algn="l">
              <a:lnSpc>
                <a:spcPct val="103000"/>
              </a:lnSpc>
              <a:spcAft>
                <a:spcPts val="600"/>
              </a:spcAft>
            </a:pPr>
            <a:r>
              <a:rPr sz="1150" b="0" i="0">
                <a:solidFill>
                  <a:srgbClr val="1A1A1A"/>
                </a:solidFill>
                <a:latin typeface="Calibri"/>
              </a:rPr>
              <a:t>+16 % production over 4 months, including shut-in time [4].</a:t>
            </a:r>
          </a:p>
          <a:p>
            <a:pPr algn="l">
              <a:lnSpc>
                <a:spcPct val="102000"/>
              </a:lnSpc>
              <a:spcAft>
                <a:spcPts val="0"/>
              </a:spcAft>
            </a:pPr>
            <a:r>
              <a:rPr sz="1300" b="0" i="1">
                <a:solidFill>
                  <a:srgbClr val="0D7377"/>
                </a:solidFill>
                <a:latin typeface="Calibri"/>
              </a:rPr>
              <a:t>NEXT  →  what you can actually do about it.</a:t>
            </a:r>
          </a:p>
        </p:txBody>
      </p:sp>
      <p:sp>
        <p:nvSpPr>
          <p:cNvPr id="9" name="TextBox 8"/>
          <p:cNvSpPr txBox="1"/>
          <p:nvPr/>
        </p:nvSpPr>
        <p:spPr>
          <a:xfrm>
            <a:off x="566928" y="5989320"/>
            <a:ext cx="11064240" cy="411480"/>
          </a:xfrm>
          <a:prstGeom prst="rect">
            <a:avLst/>
          </a:prstGeom>
          <a:noFill/>
        </p:spPr>
        <p:txBody>
          <a:bodyPr wrap="square">
            <a:spAutoFit/>
          </a:bodyPr>
          <a:lstStyle/>
          <a:p>
            <a:pPr algn="l">
              <a:lnSpc>
                <a:spcPct val="105000"/>
              </a:lnSpc>
              <a:spcAft>
                <a:spcPts val="0"/>
              </a:spcAft>
            </a:pPr>
            <a:r>
              <a:rPr sz="1000" b="0" i="1">
                <a:solidFill>
                  <a:srgbClr val="4A5568"/>
                </a:solidFill>
                <a:latin typeface="Calibri"/>
              </a:rPr>
              <a:t>Reconstructed from published data: geometry (perforations 17,700–18,000 ft; mandrel 14,600 ft) from Wylde &amp; Punase, JPT (2020) [4]. The P–T model itself is illustrative — the thesis rebuilds it with the field's own PVT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4 · DEFENSES</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Detecting the problem before the well chokes</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14/25 · target 35s · clock 8:35</a:t>
            </a:r>
          </a:p>
        </p:txBody>
      </p:sp>
      <p:sp>
        <p:nvSpPr>
          <p:cNvPr id="7" name="TextBox 6"/>
          <p:cNvSpPr txBox="1"/>
          <p:nvPr/>
        </p:nvSpPr>
        <p:spPr>
          <a:xfrm>
            <a:off x="566928" y="1645920"/>
            <a:ext cx="11064240" cy="4480560"/>
          </a:xfrm>
          <a:prstGeom prst="rect">
            <a:avLst/>
          </a:prstGeom>
          <a:noFill/>
        </p:spPr>
        <p:txBody>
          <a:bodyPr wrap="square">
            <a:spAutoFit/>
          </a:bodyPr>
          <a:lstStyle/>
          <a:p>
            <a:pPr algn="l">
              <a:lnSpc>
                <a:spcPct val="102000"/>
              </a:lnSpc>
              <a:spcAft>
                <a:spcPts val="200"/>
              </a:spcAft>
            </a:pPr>
            <a:r>
              <a:rPr sz="1550" b="1" i="0">
                <a:solidFill>
                  <a:srgbClr val="1B365D"/>
                </a:solidFill>
                <a:latin typeface="Calibri"/>
              </a:rPr>
              <a:t>▪  Rate and pressure:</a:t>
            </a:r>
          </a:p>
          <a:p>
            <a:pPr algn="l">
              <a:lnSpc>
                <a:spcPct val="105000"/>
              </a:lnSpc>
              <a:spcAft>
                <a:spcPts val="1100"/>
              </a:spcAft>
            </a:pPr>
            <a:r>
              <a:rPr sz="1450" b="0" i="0">
                <a:solidFill>
                  <a:srgbClr val="1A1A1A"/>
                </a:solidFill>
                <a:latin typeface="Calibri"/>
              </a:rPr>
              <a:t>a rising ΔP for the same rate (ΔP/Q) is the earliest fingerprint of a growing deposit.</a:t>
            </a:r>
          </a:p>
          <a:p>
            <a:pPr algn="l">
              <a:lnSpc>
                <a:spcPct val="102000"/>
              </a:lnSpc>
              <a:spcAft>
                <a:spcPts val="200"/>
              </a:spcAft>
            </a:pPr>
            <a:r>
              <a:rPr sz="1550" b="1" i="0">
                <a:solidFill>
                  <a:srgbClr val="1B365D"/>
                </a:solidFill>
                <a:latin typeface="Calibri"/>
              </a:rPr>
              <a:t>▪  Wellhead signature:</a:t>
            </a:r>
          </a:p>
          <a:p>
            <a:pPr algn="l">
              <a:lnSpc>
                <a:spcPct val="105000"/>
              </a:lnSpc>
              <a:spcAft>
                <a:spcPts val="1100"/>
              </a:spcAft>
            </a:pPr>
            <a:r>
              <a:rPr sz="1450" b="0" i="0">
                <a:solidFill>
                  <a:srgbClr val="1A1A1A"/>
                </a:solidFill>
                <a:latin typeface="Calibri"/>
              </a:rPr>
              <a:t>severe fields lose 20–25 % of wellhead pressure in 15–20 days — a clean, quantitative alarm [3].</a:t>
            </a:r>
          </a:p>
          <a:p>
            <a:pPr algn="l">
              <a:lnSpc>
                <a:spcPct val="102000"/>
              </a:lnSpc>
              <a:spcAft>
                <a:spcPts val="200"/>
              </a:spcAft>
            </a:pPr>
            <a:r>
              <a:rPr sz="1550" b="1" i="0">
                <a:solidFill>
                  <a:srgbClr val="1B365D"/>
                </a:solidFill>
                <a:latin typeface="Calibri"/>
              </a:rPr>
              <a:t>▪  Wireline gauge rings / calipers:</a:t>
            </a:r>
          </a:p>
          <a:p>
            <a:pPr algn="l">
              <a:lnSpc>
                <a:spcPct val="105000"/>
              </a:lnSpc>
              <a:spcAft>
                <a:spcPts val="1100"/>
              </a:spcAft>
            </a:pPr>
            <a:r>
              <a:rPr sz="1450" b="0" i="0">
                <a:solidFill>
                  <a:srgbClr val="1A1A1A"/>
                </a:solidFill>
                <a:latin typeface="Calibri"/>
              </a:rPr>
              <a:t>successive runs map the deposit profile and volume, so treatment volumes can be sized [3].</a:t>
            </a:r>
          </a:p>
          <a:p>
            <a:pPr algn="l">
              <a:lnSpc>
                <a:spcPct val="102000"/>
              </a:lnSpc>
              <a:spcAft>
                <a:spcPts val="200"/>
              </a:spcAft>
            </a:pPr>
            <a:r>
              <a:rPr sz="1550" b="1" i="0">
                <a:solidFill>
                  <a:srgbClr val="1B365D"/>
                </a:solidFill>
                <a:latin typeface="Calibri"/>
              </a:rPr>
              <a:t>▪  Sampling:</a:t>
            </a:r>
          </a:p>
          <a:p>
            <a:pPr algn="l">
              <a:lnSpc>
                <a:spcPct val="105000"/>
              </a:lnSpc>
              <a:spcAft>
                <a:spcPts val="1100"/>
              </a:spcAft>
            </a:pPr>
            <a:r>
              <a:rPr sz="1450" b="0" i="0">
                <a:solidFill>
                  <a:srgbClr val="1A1A1A"/>
                </a:solidFill>
                <a:latin typeface="Calibri"/>
              </a:rPr>
              <a:t>optical analysis of produced fluids tuned the inhibitor dose in near-real time in the case well [4].</a:t>
            </a:r>
          </a:p>
          <a:p>
            <a:pPr algn="l">
              <a:lnSpc>
                <a:spcPct val="102000"/>
              </a:lnSpc>
              <a:spcAft>
                <a:spcPts val="200"/>
              </a:spcAft>
            </a:pPr>
            <a:r>
              <a:rPr sz="1550" b="1" i="0">
                <a:solidFill>
                  <a:srgbClr val="1B365D"/>
                </a:solidFill>
                <a:latin typeface="Calibri"/>
              </a:rPr>
              <a:t>▪  Monitoring + periodic CT cleanouts:</a:t>
            </a:r>
          </a:p>
          <a:p>
            <a:pPr algn="l">
              <a:lnSpc>
                <a:spcPct val="105000"/>
              </a:lnSpc>
              <a:spcAft>
                <a:spcPts val="1100"/>
              </a:spcAft>
            </a:pPr>
            <a:r>
              <a:rPr sz="1450" b="0" i="0">
                <a:solidFill>
                  <a:srgbClr val="1A1A1A"/>
                </a:solidFill>
                <a:latin typeface="Calibri"/>
              </a:rPr>
              <a:t>deliberate surveillance where prevention alone is not trusted [4].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4 · DEFENSES</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Reactive cleanouts are temporary, expensive — and guarantee repeat NPT</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15/25 · target 45s · clock 9:20</a:t>
            </a:r>
          </a:p>
        </p:txBody>
      </p:sp>
      <p:graphicFrame>
        <p:nvGraphicFramePr>
          <p:cNvPr id="7" name="Table 6"/>
          <p:cNvGraphicFramePr>
            <a:graphicFrameLocks noGrp="1"/>
          </p:cNvGraphicFramePr>
          <p:nvPr/>
        </p:nvGraphicFramePr>
        <p:xfrm>
          <a:off x="566928" y="1591056"/>
          <a:ext cx="11064238" cy="3474720"/>
        </p:xfrm>
        <a:graphic>
          <a:graphicData uri="http://schemas.openxmlformats.org/drawingml/2006/table">
            <a:tbl>
              <a:tblPr>
                <a:tableStyleId>{5C22544A-7EE6-4342-B048-85BDC9FD1C3A}</a:tableStyleId>
              </a:tblPr>
              <a:tblGrid>
                <a:gridCol w="2830386"/>
                <a:gridCol w="3602310"/>
                <a:gridCol w="4631542"/>
              </a:tblGrid>
              <a:tr h="694944">
                <a:tc>
                  <a:txBody>
                    <a:bodyPr wrap="square"/>
                    <a:lstStyle/>
                    <a:p>
                      <a:r>
                        <a:rPr sz="1300" b="1">
                          <a:solidFill>
                            <a:srgbClr val="FFFFFF"/>
                          </a:solidFill>
                          <a:latin typeface="Calibri"/>
                        </a:rPr>
                        <a:t>Method</a:t>
                      </a:r>
                    </a:p>
                  </a:txBody>
                  <a:tcPr marL="73152" marR="54864" marT="18288" marB="18288" anchor="ctr">
                    <a:solidFill>
                      <a:srgbClr val="1B365D"/>
                    </a:solidFill>
                  </a:tcPr>
                </a:tc>
                <a:tc>
                  <a:txBody>
                    <a:bodyPr wrap="square"/>
                    <a:lstStyle/>
                    <a:p>
                      <a:r>
                        <a:rPr sz="1300" b="1">
                          <a:solidFill>
                            <a:srgbClr val="FFFFFF"/>
                          </a:solidFill>
                          <a:latin typeface="Calibri"/>
                        </a:rPr>
                        <a:t>How it works</a:t>
                      </a:r>
                    </a:p>
                  </a:txBody>
                  <a:tcPr marL="73152" marR="54864" marT="18288" marB="18288" anchor="ctr">
                    <a:solidFill>
                      <a:srgbClr val="1B365D"/>
                    </a:solidFill>
                  </a:tcPr>
                </a:tc>
                <a:tc>
                  <a:txBody>
                    <a:bodyPr wrap="square"/>
                    <a:lstStyle/>
                    <a:p>
                      <a:r>
                        <a:rPr sz="1300" b="1">
                          <a:solidFill>
                            <a:srgbClr val="FFFFFF"/>
                          </a:solidFill>
                          <a:latin typeface="Calibri"/>
                        </a:rPr>
                        <a:t>Why it is not the answer</a:t>
                      </a:r>
                    </a:p>
                  </a:txBody>
                  <a:tcPr marL="73152" marR="54864" marT="18288" marB="18288" anchor="ctr">
                    <a:solidFill>
                      <a:srgbClr val="1B365D"/>
                    </a:solidFill>
                  </a:tcPr>
                </a:tc>
              </a:tr>
              <a:tr h="694944">
                <a:tc>
                  <a:txBody>
                    <a:bodyPr wrap="square"/>
                    <a:lstStyle/>
                    <a:p>
                      <a:r>
                        <a:rPr sz="1250" b="0">
                          <a:solidFill>
                            <a:srgbClr val="1A1A1A"/>
                          </a:solidFill>
                          <a:latin typeface="Calibri"/>
                        </a:rPr>
                        <a:t>Wireline scrapers / cutting</a:t>
                      </a:r>
                    </a:p>
                  </a:txBody>
                  <a:tcPr marL="73152" marR="54864" marT="18288" marB="18288" anchor="ctr">
                    <a:solidFill>
                      <a:srgbClr val="FFFFFF"/>
                    </a:solidFill>
                  </a:tcPr>
                </a:tc>
                <a:tc>
                  <a:txBody>
                    <a:bodyPr wrap="square"/>
                    <a:lstStyle/>
                    <a:p>
                      <a:r>
                        <a:rPr sz="1250" b="0">
                          <a:solidFill>
                            <a:srgbClr val="1A1A1A"/>
                          </a:solidFill>
                          <a:latin typeface="Calibri"/>
                        </a:rPr>
                        <a:t>mechanical removal of the deposit from tubing</a:t>
                      </a:r>
                    </a:p>
                  </a:txBody>
                  <a:tcPr marL="73152" marR="54864" marT="18288" marB="18288" anchor="ctr">
                    <a:solidFill>
                      <a:srgbClr val="FFFFFF"/>
                    </a:solidFill>
                  </a:tcPr>
                </a:tc>
                <a:tc>
                  <a:txBody>
                    <a:bodyPr wrap="square"/>
                    <a:lstStyle/>
                    <a:p>
                      <a:r>
                        <a:rPr sz="1250" b="0">
                          <a:solidFill>
                            <a:srgbClr val="1A1A1A"/>
                          </a:solidFill>
                          <a:latin typeface="Calibri"/>
                        </a:rPr>
                        <a:t>slow, impractical in bad wells; routine scraping was 'expensive and cumbersome' at Hassi Messaoud [3]</a:t>
                      </a:r>
                    </a:p>
                  </a:txBody>
                  <a:tcPr marL="73152" marR="54864" marT="18288" marB="18288" anchor="ctr">
                    <a:solidFill>
                      <a:srgbClr val="FFFFFF"/>
                    </a:solidFill>
                  </a:tcPr>
                </a:tc>
              </a:tr>
              <a:tr h="694944">
                <a:tc>
                  <a:txBody>
                    <a:bodyPr wrap="square"/>
                    <a:lstStyle/>
                    <a:p>
                      <a:r>
                        <a:rPr sz="1250" b="0">
                          <a:solidFill>
                            <a:srgbClr val="1A1A1A"/>
                          </a:solidFill>
                          <a:latin typeface="Calibri"/>
                        </a:rPr>
                        <a:t>Coiled-tubing milling / jetting</a:t>
                      </a:r>
                    </a:p>
                  </a:txBody>
                  <a:tcPr marL="73152" marR="54864" marT="18288" marB="18288" anchor="ctr">
                    <a:solidFill>
                      <a:srgbClr val="F8FAFC"/>
                    </a:solidFill>
                  </a:tcPr>
                </a:tc>
                <a:tc>
                  <a:txBody>
                    <a:bodyPr wrap="square"/>
                    <a:lstStyle/>
                    <a:p>
                      <a:r>
                        <a:rPr sz="1250" b="0">
                          <a:solidFill>
                            <a:srgbClr val="1A1A1A"/>
                          </a:solidFill>
                          <a:latin typeface="Calibri"/>
                        </a:rPr>
                        <a:t>mechanical cleanout of the full string</a:t>
                      </a:r>
                    </a:p>
                  </a:txBody>
                  <a:tcPr marL="73152" marR="54864" marT="18288" marB="18288" anchor="ctr">
                    <a:solidFill>
                      <a:srgbClr val="F8FAFC"/>
                    </a:solidFill>
                  </a:tcPr>
                </a:tc>
                <a:tc>
                  <a:txBody>
                    <a:bodyPr wrap="square"/>
                    <a:lstStyle/>
                    <a:p>
                      <a:r>
                        <a:rPr sz="1250" b="0">
                          <a:solidFill>
                            <a:srgbClr val="1A1A1A"/>
                          </a:solidFill>
                          <a:latin typeface="Calibri"/>
                        </a:rPr>
                        <a:t>rig-up + NPT; the well is shut in while it happens</a:t>
                      </a:r>
                    </a:p>
                  </a:txBody>
                  <a:tcPr marL="73152" marR="54864" marT="18288" marB="18288" anchor="ctr">
                    <a:solidFill>
                      <a:srgbClr val="F8FAFC"/>
                    </a:solidFill>
                  </a:tcPr>
                </a:tc>
              </a:tr>
              <a:tr h="694944">
                <a:tc>
                  <a:txBody>
                    <a:bodyPr wrap="square"/>
                    <a:lstStyle/>
                    <a:p>
                      <a:r>
                        <a:rPr sz="1250" b="0">
                          <a:solidFill>
                            <a:srgbClr val="1A1A1A"/>
                          </a:solidFill>
                          <a:latin typeface="Calibri"/>
                        </a:rPr>
                        <a:t>Aromatic solvent washes (toluene / xylene)</a:t>
                      </a:r>
                    </a:p>
                  </a:txBody>
                  <a:tcPr marL="73152" marR="54864" marT="18288" marB="18288" anchor="ctr">
                    <a:solidFill>
                      <a:srgbClr val="FFFFFF"/>
                    </a:solidFill>
                  </a:tcPr>
                </a:tc>
                <a:tc>
                  <a:txBody>
                    <a:bodyPr wrap="square"/>
                    <a:lstStyle/>
                    <a:p>
                      <a:r>
                        <a:rPr sz="1250" b="0">
                          <a:solidFill>
                            <a:srgbClr val="1A1A1A"/>
                          </a:solidFill>
                          <a:latin typeface="Calibri"/>
                        </a:rPr>
                        <a:t>dissolves the deposit; volume calculated from gauge-ring profile</a:t>
                      </a:r>
                    </a:p>
                  </a:txBody>
                  <a:tcPr marL="73152" marR="54864" marT="18288" marB="18288" anchor="ctr">
                    <a:solidFill>
                      <a:srgbClr val="FFFFFF"/>
                    </a:solidFill>
                  </a:tcPr>
                </a:tc>
                <a:tc>
                  <a:txBody>
                    <a:bodyPr wrap="square"/>
                    <a:lstStyle/>
                    <a:p>
                      <a:r>
                        <a:rPr sz="1250" b="0">
                          <a:solidFill>
                            <a:srgbClr val="1A1A1A"/>
                          </a:solidFill>
                          <a:latin typeface="Calibri"/>
                        </a:rPr>
                        <a:t>HSE exposure (BTEX), flammability, cost; only a temporary fix — deposits return</a:t>
                      </a:r>
                    </a:p>
                  </a:txBody>
                  <a:tcPr marL="73152" marR="54864" marT="18288" marB="18288" anchor="ctr">
                    <a:solidFill>
                      <a:srgbClr val="FFFFFF"/>
                    </a:solidFill>
                  </a:tcPr>
                </a:tc>
              </a:tr>
              <a:tr h="694944">
                <a:tc>
                  <a:txBody>
                    <a:bodyPr wrap="square"/>
                    <a:lstStyle/>
                    <a:p>
                      <a:r>
                        <a:rPr sz="1250" b="0">
                          <a:solidFill>
                            <a:srgbClr val="1A1A1A"/>
                          </a:solidFill>
                          <a:latin typeface="Calibri"/>
                        </a:rPr>
                        <a:t>Acid / stimulation jobs</a:t>
                      </a:r>
                    </a:p>
                  </a:txBody>
                  <a:tcPr marL="73152" marR="54864" marT="18288" marB="18288" anchor="ctr">
                    <a:solidFill>
                      <a:srgbClr val="F8FAFC"/>
                    </a:solidFill>
                  </a:tcPr>
                </a:tc>
                <a:tc>
                  <a:txBody>
                    <a:bodyPr wrap="square"/>
                    <a:lstStyle/>
                    <a:p>
                      <a:r>
                        <a:rPr sz="1250" b="0">
                          <a:solidFill>
                            <a:srgbClr val="1A1A1A"/>
                          </a:solidFill>
                          <a:latin typeface="Calibri"/>
                        </a:rPr>
                        <a:t>dissolve scale around the near-wellbore</a:t>
                      </a:r>
                    </a:p>
                  </a:txBody>
                  <a:tcPr marL="73152" marR="54864" marT="18288" marB="18288" anchor="ctr">
                    <a:solidFill>
                      <a:srgbClr val="F8FAFC"/>
                    </a:solidFill>
                  </a:tcPr>
                </a:tc>
                <a:tc>
                  <a:txBody>
                    <a:bodyPr wrap="square"/>
                    <a:lstStyle/>
                    <a:p>
                      <a:r>
                        <a:rPr sz="1250" b="0">
                          <a:solidFill>
                            <a:srgbClr val="1A1A1A"/>
                          </a:solidFill>
                          <a:latin typeface="Calibri"/>
                        </a:rPr>
                        <a:t>can destabilise the crude and worsen asphaltene damage — used with great care</a:t>
                      </a:r>
                    </a:p>
                  </a:txBody>
                  <a:tcPr marL="73152" marR="54864" marT="18288" marB="18288" anchor="ctr">
                    <a:solidFill>
                      <a:srgbClr val="F8FAFC"/>
                    </a:solidFill>
                  </a:tcPr>
                </a:tc>
              </a:tr>
            </a:tbl>
          </a:graphicData>
        </a:graphic>
      </p:graphicFrame>
      <p:sp>
        <p:nvSpPr>
          <p:cNvPr id="8" name="TextBox 7"/>
          <p:cNvSpPr txBox="1"/>
          <p:nvPr/>
        </p:nvSpPr>
        <p:spPr>
          <a:xfrm>
            <a:off x="566928" y="5175504"/>
            <a:ext cx="11064240" cy="1051560"/>
          </a:xfrm>
          <a:prstGeom prst="rect">
            <a:avLst/>
          </a:prstGeom>
          <a:noFill/>
        </p:spPr>
        <p:txBody>
          <a:bodyPr wrap="square">
            <a:spAutoFit/>
          </a:bodyPr>
          <a:lstStyle/>
          <a:p>
            <a:pPr algn="l">
              <a:lnSpc>
                <a:spcPct val="106000"/>
              </a:lnSpc>
              <a:spcAft>
                <a:spcPts val="700"/>
              </a:spcAft>
            </a:pPr>
            <a:r>
              <a:rPr sz="1350" b="0" i="1">
                <a:solidFill>
                  <a:srgbClr val="4A5568"/>
                </a:solidFill>
                <a:latin typeface="Calibri"/>
              </a:rPr>
              <a:t>Thermal methods are not a melting story — asphaltene deposits have no melting point, and heat can even weaken the resins that keep them dispersed. That is the wax toolkit, not this one [15].</a:t>
            </a:r>
          </a:p>
          <a:p>
            <a:pPr algn="l">
              <a:lnSpc>
                <a:spcPct val="102000"/>
              </a:lnSpc>
              <a:spcAft>
                <a:spcPts val="0"/>
              </a:spcAft>
            </a:pPr>
            <a:r>
              <a:rPr sz="1450" b="1" i="0">
                <a:solidFill>
                  <a:srgbClr val="1B365D"/>
                </a:solidFill>
                <a:latin typeface="Calibri"/>
              </a:rPr>
              <a:t>Every reactive method is a cleanout — and every cleanout is NPT, deferred production and a repeat visit scheduled by the physics itself.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4 · DEFENSES</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The proactive answer: keep the asphaltenes dispersed — don't let them land</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16/25 · target 40s · clock 10:00</a:t>
            </a:r>
          </a:p>
        </p:txBody>
      </p:sp>
      <p:sp>
        <p:nvSpPr>
          <p:cNvPr id="7" name="TextBox 6"/>
          <p:cNvSpPr txBox="1"/>
          <p:nvPr/>
        </p:nvSpPr>
        <p:spPr>
          <a:xfrm>
            <a:off x="566928" y="1645920"/>
            <a:ext cx="6629400" cy="4480560"/>
          </a:xfrm>
          <a:prstGeom prst="rect">
            <a:avLst/>
          </a:prstGeom>
          <a:noFill/>
        </p:spPr>
        <p:txBody>
          <a:bodyPr wrap="square">
            <a:spAutoFit/>
          </a:bodyPr>
          <a:lstStyle/>
          <a:p>
            <a:pPr algn="l">
              <a:lnSpc>
                <a:spcPct val="102000"/>
              </a:lnSpc>
              <a:spcAft>
                <a:spcPts val="200"/>
              </a:spcAft>
            </a:pPr>
            <a:r>
              <a:rPr sz="1450" b="1" i="0">
                <a:solidFill>
                  <a:srgbClr val="1B365D"/>
                </a:solidFill>
                <a:latin typeface="Calibri"/>
              </a:rPr>
              <a:t>▪  Chemical inhibitors:</a:t>
            </a:r>
          </a:p>
          <a:p>
            <a:pPr algn="l">
              <a:lnSpc>
                <a:spcPct val="103000"/>
              </a:lnSpc>
              <a:spcAft>
                <a:spcPts val="700"/>
              </a:spcAft>
            </a:pPr>
            <a:r>
              <a:rPr sz="1350" b="0" i="0">
                <a:solidFill>
                  <a:srgbClr val="1A1A1A"/>
                </a:solidFill>
                <a:latin typeface="Calibri"/>
              </a:rPr>
              <a:t>polymer/surfactant molecules adsorb onto the aggregates — polar head on the particle, alkyl tail into the oil — and keep them suspended. Inhibitors shift the flocculation onset; dispersants shrink the aggregates. Both prevent formation; neither dissolves an existing deposit [15, 16].</a:t>
            </a:r>
          </a:p>
          <a:p>
            <a:pPr algn="l">
              <a:lnSpc>
                <a:spcPct val="102000"/>
              </a:lnSpc>
              <a:spcAft>
                <a:spcPts val="200"/>
              </a:spcAft>
            </a:pPr>
            <a:r>
              <a:rPr sz="1450" b="1" i="0">
                <a:solidFill>
                  <a:srgbClr val="1B365D"/>
                </a:solidFill>
                <a:latin typeface="Calibri"/>
              </a:rPr>
              <a:t>▪  Delivery — capillary injection string:</a:t>
            </a:r>
          </a:p>
          <a:p>
            <a:pPr algn="l">
              <a:lnSpc>
                <a:spcPct val="103000"/>
              </a:lnSpc>
              <a:spcAft>
                <a:spcPts val="700"/>
              </a:spcAft>
            </a:pPr>
            <a:r>
              <a:rPr sz="1350" b="0" i="0">
                <a:solidFill>
                  <a:srgbClr val="1A1A1A"/>
                </a:solidFill>
                <a:latin typeface="Calibri"/>
              </a:rPr>
              <a:t>thin tubing clamped to the production string, dosing continuously at depth with a surface pump.</a:t>
            </a:r>
          </a:p>
          <a:p>
            <a:pPr algn="l">
              <a:lnSpc>
                <a:spcPct val="102000"/>
              </a:lnSpc>
              <a:spcAft>
                <a:spcPts val="200"/>
              </a:spcAft>
            </a:pPr>
            <a:r>
              <a:rPr sz="1450" b="1" i="0">
                <a:solidFill>
                  <a:srgbClr val="1B365D"/>
                </a:solidFill>
                <a:latin typeface="Calibri"/>
              </a:rPr>
              <a:t>▪  Dosage is field-specific:</a:t>
            </a:r>
          </a:p>
          <a:p>
            <a:pPr algn="l">
              <a:lnSpc>
                <a:spcPct val="103000"/>
              </a:lnSpc>
              <a:spcAft>
                <a:spcPts val="700"/>
              </a:spcAft>
            </a:pPr>
            <a:r>
              <a:rPr sz="1350" b="0" i="0">
                <a:solidFill>
                  <a:srgbClr val="1A1A1A"/>
                </a:solidFill>
                <a:latin typeface="Calibri"/>
              </a:rPr>
              <a:t>hundreds to a few thousand ppm; here 750 ppm initial, stabilised ≈ 500 ppm [4].</a:t>
            </a:r>
          </a:p>
          <a:p>
            <a:pPr algn="l">
              <a:lnSpc>
                <a:spcPct val="102000"/>
              </a:lnSpc>
              <a:spcAft>
                <a:spcPts val="200"/>
              </a:spcAft>
            </a:pPr>
            <a:r>
              <a:rPr sz="1450" b="1" i="0">
                <a:solidFill>
                  <a:srgbClr val="1B365D"/>
                </a:solidFill>
                <a:latin typeface="Calibri"/>
              </a:rPr>
              <a:t>▪  Placement rule (the lesson of Part 3):</a:t>
            </a:r>
          </a:p>
          <a:p>
            <a:pPr algn="l">
              <a:lnSpc>
                <a:spcPct val="103000"/>
              </a:lnSpc>
              <a:spcAft>
                <a:spcPts val="700"/>
              </a:spcAft>
            </a:pPr>
            <a:r>
              <a:rPr sz="1350" b="0" i="0">
                <a:solidFill>
                  <a:srgbClr val="1A1A1A"/>
                </a:solidFill>
                <a:latin typeface="Calibri"/>
              </a:rPr>
              <a:t>the injection point must sit BELOW the deepest credible onset depth — onset plus a margin sized by the sensitivity study (backup slide 24). Rules of thumb leave tubing unprotected.</a:t>
            </a:r>
          </a:p>
          <a:p>
            <a:pPr algn="l">
              <a:lnSpc>
                <a:spcPct val="102000"/>
              </a:lnSpc>
              <a:spcAft>
                <a:spcPts val="200"/>
              </a:spcAft>
            </a:pPr>
            <a:r>
              <a:rPr sz="1450" b="1" i="0">
                <a:solidFill>
                  <a:srgbClr val="1B365D"/>
                </a:solidFill>
                <a:latin typeface="Calibri"/>
              </a:rPr>
              <a:t>▪  Chemical-free alternative:</a:t>
            </a:r>
          </a:p>
          <a:p>
            <a:pPr algn="l">
              <a:lnSpc>
                <a:spcPct val="103000"/>
              </a:lnSpc>
              <a:spcAft>
                <a:spcPts val="700"/>
              </a:spcAft>
            </a:pPr>
            <a:r>
              <a:rPr sz="1350" b="0" i="0">
                <a:solidFill>
                  <a:srgbClr val="1A1A1A"/>
                </a:solidFill>
                <a:latin typeface="Calibri"/>
              </a:rPr>
              <a:t>re-injecting dead oil restores solvent quality — promising, still developing [7].</a:t>
            </a:r>
          </a:p>
        </p:txBody>
      </p:sp>
      <p:pic>
        <p:nvPicPr>
          <p:cNvPr id="8" name="Picture 7" descr="well_schematic.png"/>
          <p:cNvPicPr>
            <a:picLocks noChangeAspect="1"/>
          </p:cNvPicPr>
          <p:nvPr/>
        </p:nvPicPr>
        <p:blipFill>
          <a:blip r:embed="rId2"/>
          <a:stretch>
            <a:fillRect/>
          </a:stretch>
        </p:blipFill>
        <p:spPr>
          <a:xfrm>
            <a:off x="7406640" y="1645920"/>
            <a:ext cx="4206240" cy="2825496"/>
          </a:xfrm>
          <a:prstGeom prst="rect">
            <a:avLst/>
          </a:prstGeom>
        </p:spPr>
      </p:pic>
      <p:sp>
        <p:nvSpPr>
          <p:cNvPr id="9" name="Rounded Rectangle 8"/>
          <p:cNvSpPr/>
          <p:nvPr/>
        </p:nvSpPr>
        <p:spPr>
          <a:xfrm>
            <a:off x="7406640" y="4553712"/>
            <a:ext cx="4224528" cy="1508760"/>
          </a:xfrm>
          <a:prstGeom prst="roundRect">
            <a:avLst>
              <a:gd name="adj" fmla="val 5000"/>
            </a:avLst>
          </a:prstGeom>
          <a:solidFill>
            <a:srgbClr val="F8FAFC"/>
          </a:solidFill>
          <a:ln w="1778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500"/>
              </a:spcAft>
            </a:pPr>
            <a:r>
              <a:rPr sz="1300" b="1" i="0">
                <a:solidFill>
                  <a:srgbClr val="0D7377"/>
                </a:solidFill>
                <a:latin typeface="Calibri"/>
              </a:rPr>
              <a:t>WHY IT PAYS</a:t>
            </a:r>
          </a:p>
          <a:p>
            <a:pPr algn="l">
              <a:lnSpc>
                <a:spcPct val="106000"/>
              </a:lnSpc>
              <a:spcAft>
                <a:spcPts val="0"/>
              </a:spcAft>
            </a:pPr>
            <a:r>
              <a:rPr sz="1150" b="0" i="0">
                <a:solidFill>
                  <a:srgbClr val="1A1A1A"/>
                </a:solidFill>
                <a:latin typeface="Calibri"/>
              </a:rPr>
              <a:t>No rig-up, no deferred production, no repeat workover. The well keeps producing while the problem is managed continuously — and the schematic shows exactly where the chemical has to arrive.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4 · DEFENSES</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The business case: reactive cleanouts vs continuous inhibition</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17/25 · target 40s · clock 10:40</a:t>
            </a:r>
          </a:p>
        </p:txBody>
      </p:sp>
      <p:graphicFrame>
        <p:nvGraphicFramePr>
          <p:cNvPr id="7" name="Table 6"/>
          <p:cNvGraphicFramePr>
            <a:graphicFrameLocks noGrp="1"/>
          </p:cNvGraphicFramePr>
          <p:nvPr/>
        </p:nvGraphicFramePr>
        <p:xfrm>
          <a:off x="566928" y="1627632"/>
          <a:ext cx="11064239" cy="3383280"/>
        </p:xfrm>
        <a:graphic>
          <a:graphicData uri="http://schemas.openxmlformats.org/drawingml/2006/table">
            <a:tbl>
              <a:tblPr>
                <a:tableStyleId>{5C22544A-7EE6-4342-B048-85BDC9FD1C3A}</a:tableStyleId>
              </a:tblPr>
              <a:tblGrid>
                <a:gridCol w="2377440"/>
                <a:gridCol w="4480560"/>
                <a:gridCol w="4206239"/>
              </a:tblGrid>
              <a:tr h="676656">
                <a:tc>
                  <a:txBody>
                    <a:bodyPr wrap="square"/>
                    <a:lstStyle/>
                    <a:p>
                      <a:r>
                        <a:rPr sz="1250" b="1">
                          <a:solidFill>
                            <a:srgbClr val="FFFFFF"/>
                          </a:solidFill>
                          <a:latin typeface="Calibri"/>
                        </a:rPr>
                        <a:t>Cost element</a:t>
                      </a:r>
                    </a:p>
                  </a:txBody>
                  <a:tcPr marL="73152" marR="54864" marT="18288" marB="18288" anchor="ctr">
                    <a:solidFill>
                      <a:srgbClr val="1B365D"/>
                    </a:solidFill>
                  </a:tcPr>
                </a:tc>
                <a:tc>
                  <a:txBody>
                    <a:bodyPr wrap="square"/>
                    <a:lstStyle/>
                    <a:p>
                      <a:r>
                        <a:rPr sz="1250" b="1">
                          <a:solidFill>
                            <a:srgbClr val="FFFFFF"/>
                          </a:solidFill>
                          <a:latin typeface="Calibri"/>
                        </a:rPr>
                        <a:t>Reactive approach</a:t>
                      </a:r>
                    </a:p>
                  </a:txBody>
                  <a:tcPr marL="73152" marR="54864" marT="18288" marB="18288" anchor="ctr">
                    <a:solidFill>
                      <a:srgbClr val="1B365D"/>
                    </a:solidFill>
                  </a:tcPr>
                </a:tc>
                <a:tc>
                  <a:txBody>
                    <a:bodyPr wrap="square"/>
                    <a:lstStyle/>
                    <a:p>
                      <a:r>
                        <a:rPr sz="1250" b="1">
                          <a:solidFill>
                            <a:srgbClr val="FFFFFF"/>
                          </a:solidFill>
                          <a:latin typeface="Calibri"/>
                        </a:rPr>
                        <a:t>Proactive approach</a:t>
                      </a:r>
                    </a:p>
                  </a:txBody>
                  <a:tcPr marL="73152" marR="54864" marT="18288" marB="18288" anchor="ctr">
                    <a:solidFill>
                      <a:srgbClr val="1B365D"/>
                    </a:solidFill>
                  </a:tcPr>
                </a:tc>
              </a:tr>
              <a:tr h="676656">
                <a:tc>
                  <a:txBody>
                    <a:bodyPr wrap="square"/>
                    <a:lstStyle/>
                    <a:p>
                      <a:r>
                        <a:rPr sz="1200" b="0">
                          <a:solidFill>
                            <a:srgbClr val="1A1A1A"/>
                          </a:solidFill>
                          <a:latin typeface="Calibri"/>
                        </a:rPr>
                        <a:t>Routine cost</a:t>
                      </a:r>
                    </a:p>
                  </a:txBody>
                  <a:tcPr marL="73152" marR="54864" marT="18288" marB="18288" anchor="ctr">
                    <a:solidFill>
                      <a:srgbClr val="FFFFFF"/>
                    </a:solidFill>
                  </a:tcPr>
                </a:tc>
                <a:tc>
                  <a:txBody>
                    <a:bodyPr wrap="square"/>
                    <a:lstStyle/>
                    <a:p>
                      <a:r>
                        <a:rPr sz="1200" b="0">
                          <a:solidFill>
                            <a:srgbClr val="1A1A1A"/>
                          </a:solidFill>
                          <a:latin typeface="Calibri"/>
                        </a:rPr>
                        <a:t>treatment documented up to ≈ $3 M/well — Stratiev et al. (2025) [2]</a:t>
                      </a:r>
                    </a:p>
                  </a:txBody>
                  <a:tcPr marL="73152" marR="54864" marT="18288" marB="18288" anchor="ctr">
                    <a:solidFill>
                      <a:srgbClr val="FFFFFF"/>
                    </a:solidFill>
                  </a:tcPr>
                </a:tc>
                <a:tc>
                  <a:txBody>
                    <a:bodyPr wrap="square"/>
                    <a:lstStyle/>
                    <a:p>
                      <a:r>
                        <a:rPr sz="1200" b="0">
                          <a:solidFill>
                            <a:srgbClr val="1A1A1A"/>
                          </a:solidFill>
                          <a:latin typeface="Calibri"/>
                        </a:rPr>
                        <a:t>inhibitor: $31–46 k/well/yr (Middle East) to $330–390 k/well/yr (GoM) — Cenegy (2001) survey, via Khaleel et al. (2020) [8, 9]</a:t>
                      </a:r>
                    </a:p>
                  </a:txBody>
                  <a:tcPr marL="73152" marR="54864" marT="18288" marB="18288" anchor="ctr">
                    <a:solidFill>
                      <a:srgbClr val="FFFFFF"/>
                    </a:solidFill>
                  </a:tcPr>
                </a:tc>
              </a:tr>
              <a:tr h="676656">
                <a:tc>
                  <a:txBody>
                    <a:bodyPr wrap="square"/>
                    <a:lstStyle/>
                    <a:p>
                      <a:r>
                        <a:rPr sz="1200" b="0">
                          <a:solidFill>
                            <a:srgbClr val="1A1A1A"/>
                          </a:solidFill>
                          <a:latin typeface="Calibri"/>
                        </a:rPr>
                        <a:t>Deferred production</a:t>
                      </a:r>
                    </a:p>
                  </a:txBody>
                  <a:tcPr marL="73152" marR="54864" marT="18288" marB="18288" anchor="ctr">
                    <a:solidFill>
                      <a:srgbClr val="F8FAFC"/>
                    </a:solidFill>
                  </a:tcPr>
                </a:tc>
                <a:tc>
                  <a:txBody>
                    <a:bodyPr wrap="square"/>
                    <a:lstStyle/>
                    <a:p>
                      <a:r>
                        <a:rPr sz="1200" b="0">
                          <a:solidFill>
                            <a:srgbClr val="1A1A1A"/>
                          </a:solidFill>
                          <a:latin typeface="Calibri"/>
                        </a:rPr>
                        <a:t>up to ≈ $1.2 M/day during a plugging/shut-in event — Stratiev et al. (2025) [2]</a:t>
                      </a:r>
                    </a:p>
                  </a:txBody>
                  <a:tcPr marL="73152" marR="54864" marT="18288" marB="18288" anchor="ctr">
                    <a:solidFill>
                      <a:srgbClr val="F8FAFC"/>
                    </a:solidFill>
                  </a:tcPr>
                </a:tc>
                <a:tc>
                  <a:txBody>
                    <a:bodyPr wrap="square"/>
                    <a:lstStyle/>
                    <a:p>
                      <a:r>
                        <a:rPr sz="1200" b="0">
                          <a:solidFill>
                            <a:srgbClr val="1A1A1A"/>
                          </a:solidFill>
                          <a:latin typeface="Calibri"/>
                        </a:rPr>
                        <a:t>near zero — the well keeps producing</a:t>
                      </a:r>
                    </a:p>
                  </a:txBody>
                  <a:tcPr marL="73152" marR="54864" marT="18288" marB="18288" anchor="ctr">
                    <a:solidFill>
                      <a:srgbClr val="F8FAFC"/>
                    </a:solidFill>
                  </a:tcPr>
                </a:tc>
              </a:tr>
              <a:tr h="676656">
                <a:tc>
                  <a:txBody>
                    <a:bodyPr wrap="square"/>
                    <a:lstStyle/>
                    <a:p>
                      <a:r>
                        <a:rPr sz="1200" b="0">
                          <a:solidFill>
                            <a:srgbClr val="1A1A1A"/>
                          </a:solidFill>
                          <a:latin typeface="Calibri"/>
                        </a:rPr>
                        <a:t>Catastrophic tail</a:t>
                      </a:r>
                    </a:p>
                  </a:txBody>
                  <a:tcPr marL="73152" marR="54864" marT="18288" marB="18288" anchor="ctr">
                    <a:solidFill>
                      <a:srgbClr val="FFFFFF"/>
                    </a:solidFill>
                  </a:tcPr>
                </a:tc>
                <a:tc>
                  <a:txBody>
                    <a:bodyPr wrap="square"/>
                    <a:lstStyle/>
                    <a:p>
                      <a:r>
                        <a:rPr sz="1200" b="0">
                          <a:solidFill>
                            <a:srgbClr val="1A1A1A"/>
                          </a:solidFill>
                          <a:latin typeface="Calibri"/>
                        </a:rPr>
                        <a:t>≈ $70 M/well shut-in + cleanup (GoM); up to $100 M if the deposit forms at the SCSSV — Farooq et al. (2021); Elsevier monograph (2021) [1, 10]</a:t>
                      </a:r>
                    </a:p>
                  </a:txBody>
                  <a:tcPr marL="73152" marR="54864" marT="18288" marB="18288" anchor="ctr">
                    <a:solidFill>
                      <a:srgbClr val="FFFFFF"/>
                    </a:solidFill>
                  </a:tcPr>
                </a:tc>
                <a:tc>
                  <a:txBody>
                    <a:bodyPr wrap="square"/>
                    <a:lstStyle/>
                    <a:p>
                      <a:r>
                        <a:rPr sz="1200" b="0">
                          <a:solidFill>
                            <a:srgbClr val="1A1A1A"/>
                          </a:solidFill>
                          <a:latin typeface="Calibri"/>
                        </a:rPr>
                        <a:t>residual risk only if dosage/placement is wrong</a:t>
                      </a:r>
                    </a:p>
                  </a:txBody>
                  <a:tcPr marL="73152" marR="54864" marT="18288" marB="18288" anchor="ctr">
                    <a:solidFill>
                      <a:srgbClr val="FFFFFF"/>
                    </a:solidFill>
                  </a:tcPr>
                </a:tc>
              </a:tr>
              <a:tr h="676656">
                <a:tc>
                  <a:txBody>
                    <a:bodyPr wrap="square"/>
                    <a:lstStyle/>
                    <a:p>
                      <a:r>
                        <a:rPr sz="1200" b="0">
                          <a:solidFill>
                            <a:srgbClr val="1A1A1A"/>
                          </a:solidFill>
                          <a:latin typeface="Calibri"/>
                        </a:rPr>
                        <a:t>Frequency</a:t>
                      </a:r>
                    </a:p>
                  </a:txBody>
                  <a:tcPr marL="73152" marR="54864" marT="18288" marB="18288" anchor="ctr">
                    <a:solidFill>
                      <a:srgbClr val="F8FAFC"/>
                    </a:solidFill>
                  </a:tcPr>
                </a:tc>
                <a:tc>
                  <a:txBody>
                    <a:bodyPr wrap="square"/>
                    <a:lstStyle/>
                    <a:p>
                      <a:r>
                        <a:rPr sz="1200" b="0">
                          <a:solidFill>
                            <a:srgbClr val="1A1A1A"/>
                          </a:solidFill>
                          <a:latin typeface="Calibri"/>
                        </a:rPr>
                        <a:t>scheduled by the physics — deposits return</a:t>
                      </a:r>
                    </a:p>
                  </a:txBody>
                  <a:tcPr marL="73152" marR="54864" marT="18288" marB="18288" anchor="ctr">
                    <a:solidFill>
                      <a:srgbClr val="F8FAFC"/>
                    </a:solidFill>
                  </a:tcPr>
                </a:tc>
                <a:tc>
                  <a:txBody>
                    <a:bodyPr wrap="square"/>
                    <a:lstStyle/>
                    <a:p>
                      <a:r>
                        <a:rPr sz="1200" b="0">
                          <a:solidFill>
                            <a:srgbClr val="1A1A1A"/>
                          </a:solidFill>
                          <a:latin typeface="Calibri"/>
                        </a:rPr>
                        <a:t>managed continuously; occasional CT verification runs</a:t>
                      </a:r>
                    </a:p>
                  </a:txBody>
                  <a:tcPr marL="73152" marR="54864" marT="18288" marB="18288" anchor="ctr">
                    <a:solidFill>
                      <a:srgbClr val="F8FAFC"/>
                    </a:solidFill>
                  </a:tcPr>
                </a:tc>
              </a:tr>
            </a:tbl>
          </a:graphicData>
        </a:graphic>
      </p:graphicFrame>
      <p:sp>
        <p:nvSpPr>
          <p:cNvPr id="8" name="Rounded Rectangle 7"/>
          <p:cNvSpPr/>
          <p:nvPr/>
        </p:nvSpPr>
        <p:spPr>
          <a:xfrm>
            <a:off x="566928" y="5047488"/>
            <a:ext cx="11064240" cy="1280160"/>
          </a:xfrm>
          <a:prstGeom prst="roundRect">
            <a:avLst>
              <a:gd name="adj" fmla="val 10000"/>
            </a:avLst>
          </a:prstGeom>
          <a:solidFill>
            <a:srgbClr val="F8FAFC"/>
          </a:solidFill>
          <a:ln w="16510">
            <a:solidFill>
              <a:srgbClr val="E0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868680" rIns="109728" tIns="54864" bIns="54864"/>
          <a:lstStyle/>
          <a:p>
            <a:pPr algn="l">
              <a:lnSpc>
                <a:spcPct val="102000"/>
              </a:lnSpc>
              <a:spcAft>
                <a:spcPts val="300"/>
              </a:spcAft>
            </a:pPr>
            <a:r>
              <a:rPr sz="1400" b="1" i="0">
                <a:solidFill>
                  <a:srgbClr val="1B365D"/>
                </a:solidFill>
                <a:latin typeface="Calibri"/>
              </a:rPr>
              <a:t>The thesis supplies the missing breakeven frequency for this specific well — the cleanout rate at which continuous inhibition pays for itself. Today that number is argued by rule of thumb.</a:t>
            </a:r>
          </a:p>
          <a:p>
            <a:pPr algn="l">
              <a:lnSpc>
                <a:spcPct val="102000"/>
              </a:lnSpc>
              <a:spcAft>
                <a:spcPts val="0"/>
              </a:spcAft>
            </a:pPr>
            <a:r>
              <a:rPr sz="1100" b="0" i="1">
                <a:solidFill>
                  <a:srgbClr val="4A5568"/>
                </a:solidFill>
                <a:latin typeface="Calibri"/>
              </a:rPr>
              <a:t>Attribution: the inhibitor ranges trace to Cenegy's 2001 survey; Fluid Phase Equilibria (2020) and the Elsevier monograph (2021) assign the high range to the GoM, Energy &amp; Fuels (2021) to the Middle East — I quote the majority and flag the discrepancy.</a:t>
            </a:r>
          </a:p>
        </p:txBody>
      </p:sp>
      <p:pic>
        <p:nvPicPr>
          <p:cNvPr id="9" name="Picture 8" descr="icon_money.png"/>
          <p:cNvPicPr>
            <a:picLocks noChangeAspect="1"/>
          </p:cNvPicPr>
          <p:nvPr/>
        </p:nvPicPr>
        <p:blipFill>
          <a:blip r:embed="rId2"/>
          <a:stretch>
            <a:fillRect/>
          </a:stretch>
        </p:blipFill>
        <p:spPr>
          <a:xfrm>
            <a:off x="731520" y="5358384"/>
            <a:ext cx="530352" cy="53035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5 · TOWARD THE THESIS</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Gap analysis: prediction is still the weak link</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18/25 · target 40s · clock 11:20</a:t>
            </a:r>
          </a:p>
        </p:txBody>
      </p:sp>
      <p:sp>
        <p:nvSpPr>
          <p:cNvPr id="7" name="TextBox 6"/>
          <p:cNvSpPr txBox="1"/>
          <p:nvPr/>
        </p:nvSpPr>
        <p:spPr>
          <a:xfrm>
            <a:off x="566928" y="1645920"/>
            <a:ext cx="7406640" cy="4480560"/>
          </a:xfrm>
          <a:prstGeom prst="rect">
            <a:avLst/>
          </a:prstGeom>
          <a:noFill/>
        </p:spPr>
        <p:txBody>
          <a:bodyPr wrap="square">
            <a:spAutoFit/>
          </a:bodyPr>
          <a:lstStyle/>
          <a:p>
            <a:pPr algn="l">
              <a:lnSpc>
                <a:spcPct val="105000"/>
              </a:lnSpc>
              <a:spcAft>
                <a:spcPts val="1000"/>
              </a:spcAft>
            </a:pPr>
            <a:r>
              <a:rPr sz="1450" b="0" i="0">
                <a:solidFill>
                  <a:srgbClr val="1A1A1A"/>
                </a:solidFill>
                <a:latin typeface="Calibri"/>
              </a:rPr>
              <a:t>▪  Onset prediction is sensitive to fluid characterisation — small input errors move the AOP and therefore the predicted depth.</a:t>
            </a:r>
          </a:p>
          <a:p>
            <a:pPr algn="l">
              <a:lnSpc>
                <a:spcPct val="105000"/>
              </a:lnSpc>
              <a:spcAft>
                <a:spcPts val="1000"/>
              </a:spcAft>
            </a:pPr>
            <a:r>
              <a:rPr sz="1450" b="0" i="0">
                <a:solidFill>
                  <a:srgbClr val="1A1A1A"/>
                </a:solidFill>
                <a:latin typeface="Calibri"/>
              </a:rPr>
              <a:t>▪  Precipitation ≠ deposition: transport/adhesion models are far less mature than the thermodynamics.</a:t>
            </a:r>
          </a:p>
          <a:p>
            <a:pPr algn="l">
              <a:lnSpc>
                <a:spcPct val="105000"/>
              </a:lnSpc>
              <a:spcAft>
                <a:spcPts val="1000"/>
              </a:spcAft>
            </a:pPr>
            <a:r>
              <a:rPr sz="1450" b="0" i="0">
                <a:solidFill>
                  <a:srgbClr val="1A1A1A"/>
                </a:solidFill>
                <a:latin typeface="Calibri"/>
              </a:rPr>
              <a:t>▪  Inhibitor dosage is still chosen largely by trial and error — published criticism: lab validation methods are inadequate, and field results can disappoint [7].</a:t>
            </a:r>
          </a:p>
          <a:p>
            <a:pPr algn="l">
              <a:lnSpc>
                <a:spcPct val="105000"/>
              </a:lnSpc>
              <a:spcAft>
                <a:spcPts val="1000"/>
              </a:spcAft>
            </a:pPr>
            <a:r>
              <a:rPr sz="1450" b="0" i="0">
                <a:solidFill>
                  <a:srgbClr val="1A1A1A"/>
                </a:solidFill>
                <a:latin typeface="Calibri"/>
              </a:rPr>
              <a:t>▪  Injection-point placement is rarely optimised against a predicted onset depth — the case study showed 3,400 ft left unprotected [4].</a:t>
            </a:r>
          </a:p>
          <a:p>
            <a:pPr algn="l">
              <a:lnSpc>
                <a:spcPct val="105000"/>
              </a:lnSpc>
              <a:spcAft>
                <a:spcPts val="1000"/>
              </a:spcAft>
            </a:pPr>
            <a:r>
              <a:rPr sz="1450" b="0" i="0">
                <a:solidFill>
                  <a:srgbClr val="1A1A1A"/>
                </a:solidFill>
                <a:latin typeface="Calibri"/>
              </a:rPr>
              <a:t>▪  No consolidated, public workflow connects screening → onset curve → deposition depth → injection point → dosage → economics.</a:t>
            </a:r>
          </a:p>
        </p:txBody>
      </p:sp>
      <p:sp>
        <p:nvSpPr>
          <p:cNvPr id="8" name="Rounded Rectangle 7"/>
          <p:cNvSpPr/>
          <p:nvPr/>
        </p:nvSpPr>
        <p:spPr>
          <a:xfrm>
            <a:off x="8183879" y="1920240"/>
            <a:ext cx="3447288" cy="3108960"/>
          </a:xfrm>
          <a:prstGeom prst="roundRect">
            <a:avLst>
              <a:gd name="adj" fmla="val 6000"/>
            </a:avLst>
          </a:prstGeom>
          <a:solidFill>
            <a:srgbClr val="F8FAFC"/>
          </a:solidFill>
          <a:ln w="1905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800"/>
              </a:spcAft>
            </a:pPr>
            <a:r>
              <a:rPr sz="1350" b="1" i="0">
                <a:solidFill>
                  <a:srgbClr val="0D7377"/>
                </a:solidFill>
                <a:latin typeface="Calibri"/>
              </a:rPr>
              <a:t>THE OPPORTUNITY</a:t>
            </a:r>
          </a:p>
          <a:p>
            <a:pPr algn="l">
              <a:lnSpc>
                <a:spcPct val="112000"/>
              </a:lnSpc>
              <a:spcAft>
                <a:spcPts val="0"/>
              </a:spcAft>
            </a:pPr>
            <a:r>
              <a:rPr sz="1400" b="0" i="0">
                <a:solidFill>
                  <a:srgbClr val="1A1A1A"/>
                </a:solidFill>
                <a:latin typeface="Calibri"/>
              </a:rPr>
              <a:t>A transparent, auditable workflow — every assumption visible, every number reproducible — applied end-to-end on a documented well. At Bachelor's level, documented rigour is the contribution.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5 · TOWARD THE THESIS</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Graduation project: onset and deposition-depth prediction for a real well</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19/25 · target 45s · clock 12:05</a:t>
            </a:r>
          </a:p>
        </p:txBody>
      </p:sp>
      <p:sp>
        <p:nvSpPr>
          <p:cNvPr id="7" name="Rounded Rectangle 6"/>
          <p:cNvSpPr/>
          <p:nvPr/>
        </p:nvSpPr>
        <p:spPr>
          <a:xfrm>
            <a:off x="566928" y="1645920"/>
            <a:ext cx="11064240" cy="960120"/>
          </a:xfrm>
          <a:prstGeom prst="roundRect">
            <a:avLst>
              <a:gd name="adj" fmla="val 9000"/>
            </a:avLst>
          </a:prstGeom>
          <a:solidFill>
            <a:srgbClr val="F8FAFC"/>
          </a:solidFill>
          <a:ln w="15240">
            <a:solidFill>
              <a:srgbClr val="2A4A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10000"/>
              </a:lnSpc>
              <a:spcAft>
                <a:spcPts val="0"/>
              </a:spcAft>
            </a:pPr>
            <a:r>
              <a:rPr sz="1450" b="1" i="0">
                <a:solidFill>
                  <a:srgbClr val="1B365D"/>
                </a:solidFill>
                <a:latin typeface="Calibri"/>
              </a:rPr>
              <a:t>AIM:  build and document a transparent screening → PVT → wellbore workflow that predicts asphaltene onset depth, selects the inhibitor injection point, and quantifies the economics — validated against a documented field case.</a:t>
            </a:r>
          </a:p>
        </p:txBody>
      </p:sp>
      <p:sp>
        <p:nvSpPr>
          <p:cNvPr id="8" name="Rounded Rectangle 7"/>
          <p:cNvSpPr/>
          <p:nvPr/>
        </p:nvSpPr>
        <p:spPr>
          <a:xfrm>
            <a:off x="566928" y="2743200"/>
            <a:ext cx="5440680" cy="2834640"/>
          </a:xfrm>
          <a:prstGeom prst="roundRect">
            <a:avLst>
              <a:gd name="adj" fmla="val 5000"/>
            </a:avLst>
          </a:prstGeom>
          <a:solidFill>
            <a:srgbClr val="FFFFFF"/>
          </a:solidFill>
          <a:ln w="1778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600"/>
              </a:spcAft>
            </a:pPr>
            <a:r>
              <a:rPr sz="1400" b="1" i="0">
                <a:solidFill>
                  <a:srgbClr val="0D7377"/>
                </a:solidFill>
                <a:latin typeface="Calibri"/>
              </a:rPr>
              <a:t>RESEARCH QUESTIONS</a:t>
            </a:r>
          </a:p>
          <a:p>
            <a:pPr algn="l">
              <a:lnSpc>
                <a:spcPct val="105000"/>
              </a:lnSpc>
              <a:spcAft>
                <a:spcPts val="900"/>
              </a:spcAft>
            </a:pPr>
            <a:r>
              <a:rPr sz="1400" b="0" i="0">
                <a:solidFill>
                  <a:srgbClr val="1A1A1A"/>
                </a:solidFill>
                <a:latin typeface="Calibri"/>
              </a:rPr>
              <a:t>RQ1  How sensitive is predicted onset depth to fluid characterisation (SARA/CII inputs, EoS choice, AOP data)?</a:t>
            </a:r>
          </a:p>
          <a:p>
            <a:pPr algn="l">
              <a:lnSpc>
                <a:spcPct val="105000"/>
              </a:lnSpc>
              <a:spcAft>
                <a:spcPts val="900"/>
              </a:spcAft>
            </a:pPr>
            <a:r>
              <a:rPr sz="1400" b="0" i="0">
                <a:solidFill>
                  <a:srgbClr val="1A1A1A"/>
                </a:solidFill>
                <a:latin typeface="Calibri"/>
              </a:rPr>
              <a:t>RQ2  What injection point and dosage window keep the whole tubing above the AOP — with what uncertainty margin?</a:t>
            </a:r>
          </a:p>
          <a:p>
            <a:pPr algn="l">
              <a:lnSpc>
                <a:spcPct val="105000"/>
              </a:lnSpc>
              <a:spcAft>
                <a:spcPts val="900"/>
              </a:spcAft>
            </a:pPr>
            <a:r>
              <a:rPr sz="1400" b="0" i="0">
                <a:solidFill>
                  <a:srgbClr val="1A1A1A"/>
                </a:solidFill>
                <a:latin typeface="Calibri"/>
              </a:rPr>
              <a:t>RQ3  At what cleanout frequency does continuous inhibition break even for the case well?</a:t>
            </a:r>
          </a:p>
        </p:txBody>
      </p:sp>
      <p:sp>
        <p:nvSpPr>
          <p:cNvPr id="9" name="Rounded Rectangle 8"/>
          <p:cNvSpPr/>
          <p:nvPr/>
        </p:nvSpPr>
        <p:spPr>
          <a:xfrm>
            <a:off x="6217920" y="2743200"/>
            <a:ext cx="5413248" cy="2834640"/>
          </a:xfrm>
          <a:prstGeom prst="roundRect">
            <a:avLst>
              <a:gd name="adj" fmla="val 5000"/>
            </a:avLst>
          </a:prstGeom>
          <a:solidFill>
            <a:srgbClr val="FFFFFF"/>
          </a:solidFill>
          <a:ln w="17780">
            <a:solidFill>
              <a:srgbClr val="E07A3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600"/>
              </a:spcAft>
            </a:pPr>
            <a:r>
              <a:rPr sz="1400" b="1" i="0">
                <a:solidFill>
                  <a:srgbClr val="B35A18"/>
                </a:solidFill>
                <a:latin typeface="Calibri"/>
              </a:rPr>
              <a:t>WORK PACKAGES</a:t>
            </a:r>
          </a:p>
          <a:p>
            <a:pPr algn="l">
              <a:lnSpc>
                <a:spcPct val="105000"/>
              </a:lnSpc>
              <a:spcAft>
                <a:spcPts val="700"/>
              </a:spcAft>
            </a:pPr>
            <a:r>
              <a:rPr sz="1350" b="0" i="0">
                <a:solidFill>
                  <a:srgbClr val="1A1A1A"/>
                </a:solidFill>
                <a:latin typeface="Calibri"/>
              </a:rPr>
              <a:t>WP1  Fluid screening: SARA, CII, de Boer assessment of the case fluid</a:t>
            </a:r>
          </a:p>
          <a:p>
            <a:pPr algn="l">
              <a:lnSpc>
                <a:spcPct val="105000"/>
              </a:lnSpc>
              <a:spcAft>
                <a:spcPts val="700"/>
              </a:spcAft>
            </a:pPr>
            <a:r>
              <a:rPr sz="1350" b="0" i="0">
                <a:solidFill>
                  <a:srgbClr val="1A1A1A"/>
                </a:solidFill>
                <a:latin typeface="Calibri"/>
              </a:rPr>
              <a:t>WP2  EoS modelling: asphaltene onset curve (CPA / PC-SAFT class model), tuned to measured AOP</a:t>
            </a:r>
          </a:p>
          <a:p>
            <a:pPr algn="l">
              <a:lnSpc>
                <a:spcPct val="105000"/>
              </a:lnSpc>
              <a:spcAft>
                <a:spcPts val="700"/>
              </a:spcAft>
            </a:pPr>
            <a:r>
              <a:rPr sz="1350" b="0" i="0">
                <a:solidFill>
                  <a:srgbClr val="1A1A1A"/>
                </a:solidFill>
                <a:latin typeface="Calibri"/>
              </a:rPr>
              <a:t>WP3  Wellbore model: P–T profile → onset depth → injection-point design</a:t>
            </a:r>
          </a:p>
          <a:p>
            <a:pPr algn="l">
              <a:lnSpc>
                <a:spcPct val="105000"/>
              </a:lnSpc>
              <a:spcAft>
                <a:spcPts val="700"/>
              </a:spcAft>
            </a:pPr>
            <a:r>
              <a:rPr sz="1350" b="0" i="0">
                <a:solidFill>
                  <a:srgbClr val="1A1A1A"/>
                </a:solidFill>
                <a:latin typeface="Calibri"/>
              </a:rPr>
              <a:t>WP4  Economics: breakeven frequency and reactive-vs-proactive comparison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5 · TOWARD THE THESIS</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Methodology: screening → modelling → validation → economics</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20/25 · target 50s · clock 12:55</a:t>
            </a:r>
          </a:p>
        </p:txBody>
      </p:sp>
      <p:sp>
        <p:nvSpPr>
          <p:cNvPr id="7" name="Rounded Rectangle 6"/>
          <p:cNvSpPr/>
          <p:nvPr/>
        </p:nvSpPr>
        <p:spPr>
          <a:xfrm>
            <a:off x="566928" y="1691640"/>
            <a:ext cx="2688336" cy="3794760"/>
          </a:xfrm>
          <a:prstGeom prst="roundRect">
            <a:avLst>
              <a:gd name="adj" fmla="val 5000"/>
            </a:avLst>
          </a:prstGeom>
          <a:solidFill>
            <a:srgbClr val="FFFFFF"/>
          </a:solidFill>
          <a:ln w="2032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1000"/>
              </a:spcAft>
            </a:pPr>
            <a:r>
              <a:rPr sz="1550" b="1" i="0">
                <a:solidFill>
                  <a:srgbClr val="0D7377"/>
                </a:solidFill>
                <a:latin typeface="Calibri"/>
              </a:rPr>
              <a:t>1 · SCREEN</a:t>
            </a:r>
          </a:p>
          <a:p>
            <a:pPr algn="l">
              <a:lnSpc>
                <a:spcPct val="106000"/>
              </a:lnSpc>
              <a:spcAft>
                <a:spcPts val="900"/>
              </a:spcAft>
            </a:pPr>
            <a:r>
              <a:rPr sz="1300" b="0" i="0">
                <a:solidFill>
                  <a:srgbClr val="1A1A1A"/>
                </a:solidFill>
                <a:latin typeface="Calibri"/>
              </a:rPr>
              <a:t>▪  SARA + CII + de Boer on published fluid data</a:t>
            </a:r>
          </a:p>
          <a:p>
            <a:pPr algn="l">
              <a:lnSpc>
                <a:spcPct val="106000"/>
              </a:lnSpc>
              <a:spcAft>
                <a:spcPts val="900"/>
              </a:spcAft>
            </a:pPr>
            <a:r>
              <a:rPr sz="1300" b="0" i="0">
                <a:solidFill>
                  <a:srgbClr val="1A1A1A"/>
                </a:solidFill>
                <a:latin typeface="Calibri"/>
              </a:rPr>
              <a:t>▪  Output: stability verdict and risk flag</a:t>
            </a:r>
          </a:p>
        </p:txBody>
      </p:sp>
      <p:sp>
        <p:nvSpPr>
          <p:cNvPr id="8" name="Rounded Rectangle 7"/>
          <p:cNvSpPr/>
          <p:nvPr/>
        </p:nvSpPr>
        <p:spPr>
          <a:xfrm>
            <a:off x="3401568" y="1691640"/>
            <a:ext cx="2688336" cy="3794760"/>
          </a:xfrm>
          <a:prstGeom prst="roundRect">
            <a:avLst>
              <a:gd name="adj" fmla="val 5000"/>
            </a:avLst>
          </a:prstGeom>
          <a:solidFill>
            <a:srgbClr val="FFFFFF"/>
          </a:solidFill>
          <a:ln w="20320">
            <a:solidFill>
              <a:srgbClr val="B35A1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1000"/>
              </a:spcAft>
            </a:pPr>
            <a:r>
              <a:rPr sz="1550" b="1" i="0">
                <a:solidFill>
                  <a:srgbClr val="B35A18"/>
                </a:solidFill>
                <a:latin typeface="Calibri"/>
              </a:rPr>
              <a:t>2 · MODEL</a:t>
            </a:r>
          </a:p>
          <a:p>
            <a:pPr algn="l">
              <a:lnSpc>
                <a:spcPct val="106000"/>
              </a:lnSpc>
              <a:spcAft>
                <a:spcPts val="900"/>
              </a:spcAft>
            </a:pPr>
            <a:r>
              <a:rPr sz="1300" b="0" i="0">
                <a:solidFill>
                  <a:srgbClr val="1A1A1A"/>
                </a:solidFill>
                <a:latin typeface="Calibri"/>
              </a:rPr>
              <a:t>▪  Asphaltene onset curve vs temperature (CPA/PC-SAFT-class EoS)</a:t>
            </a:r>
          </a:p>
          <a:p>
            <a:pPr algn="l">
              <a:lnSpc>
                <a:spcPct val="106000"/>
              </a:lnSpc>
              <a:spcAft>
                <a:spcPts val="900"/>
              </a:spcAft>
            </a:pPr>
            <a:r>
              <a:rPr sz="1300" b="0" i="0">
                <a:solidFill>
                  <a:srgbClr val="1A1A1A"/>
                </a:solidFill>
                <a:latin typeface="Calibri"/>
              </a:rPr>
              <a:t>▪  Tune to any published/measured AOP</a:t>
            </a:r>
          </a:p>
          <a:p>
            <a:pPr algn="l">
              <a:lnSpc>
                <a:spcPct val="106000"/>
              </a:lnSpc>
              <a:spcAft>
                <a:spcPts val="900"/>
              </a:spcAft>
            </a:pPr>
            <a:r>
              <a:rPr sz="1300" b="0" i="0">
                <a:solidFill>
                  <a:srgbClr val="1A1A1A"/>
                </a:solidFill>
                <a:latin typeface="Calibri"/>
              </a:rPr>
              <a:t>▪  Output: the envelope</a:t>
            </a:r>
          </a:p>
        </p:txBody>
      </p:sp>
      <p:sp>
        <p:nvSpPr>
          <p:cNvPr id="9" name="Rounded Rectangle 8"/>
          <p:cNvSpPr/>
          <p:nvPr/>
        </p:nvSpPr>
        <p:spPr>
          <a:xfrm>
            <a:off x="6236208" y="1691640"/>
            <a:ext cx="2688336" cy="3794760"/>
          </a:xfrm>
          <a:prstGeom prst="roundRect">
            <a:avLst>
              <a:gd name="adj" fmla="val 5000"/>
            </a:avLst>
          </a:prstGeom>
          <a:solidFill>
            <a:srgbClr val="FFFFFF"/>
          </a:solidFill>
          <a:ln w="20320">
            <a:solidFill>
              <a:srgbClr val="2A4A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1000"/>
              </a:spcAft>
            </a:pPr>
            <a:r>
              <a:rPr sz="1550" b="1" i="0">
                <a:solidFill>
                  <a:srgbClr val="2A4A73"/>
                </a:solidFill>
                <a:latin typeface="Calibri"/>
              </a:rPr>
              <a:t>3 · PREDICT</a:t>
            </a:r>
          </a:p>
          <a:p>
            <a:pPr algn="l">
              <a:lnSpc>
                <a:spcPct val="106000"/>
              </a:lnSpc>
              <a:spcAft>
                <a:spcPts val="900"/>
              </a:spcAft>
            </a:pPr>
            <a:r>
              <a:rPr sz="1300" b="0" i="0">
                <a:solidFill>
                  <a:srgbClr val="1A1A1A"/>
                </a:solidFill>
                <a:latin typeface="Calibri"/>
              </a:rPr>
              <a:t>▪  Wellbore P–T profile → crossing depth</a:t>
            </a:r>
          </a:p>
          <a:p>
            <a:pPr algn="l">
              <a:lnSpc>
                <a:spcPct val="106000"/>
              </a:lnSpc>
              <a:spcAft>
                <a:spcPts val="900"/>
              </a:spcAft>
            </a:pPr>
            <a:r>
              <a:rPr sz="1300" b="0" i="0">
                <a:solidFill>
                  <a:srgbClr val="1A1A1A"/>
                </a:solidFill>
                <a:latin typeface="Calibri"/>
              </a:rPr>
              <a:t>▪  Sensitivity: ±ΔP, ±AOP, ±GOR</a:t>
            </a:r>
          </a:p>
          <a:p>
            <a:pPr algn="l">
              <a:lnSpc>
                <a:spcPct val="106000"/>
              </a:lnSpc>
              <a:spcAft>
                <a:spcPts val="900"/>
              </a:spcAft>
            </a:pPr>
            <a:r>
              <a:rPr sz="1300" b="0" i="0">
                <a:solidFill>
                  <a:srgbClr val="1A1A1A"/>
                </a:solidFill>
                <a:latin typeface="Calibri"/>
              </a:rPr>
              <a:t>▪  Output: onset depth + margin</a:t>
            </a:r>
          </a:p>
        </p:txBody>
      </p:sp>
      <p:sp>
        <p:nvSpPr>
          <p:cNvPr id="10" name="Rounded Rectangle 9"/>
          <p:cNvSpPr/>
          <p:nvPr/>
        </p:nvSpPr>
        <p:spPr>
          <a:xfrm>
            <a:off x="9070848" y="1691640"/>
            <a:ext cx="2688336" cy="3794760"/>
          </a:xfrm>
          <a:prstGeom prst="roundRect">
            <a:avLst>
              <a:gd name="adj" fmla="val 5000"/>
            </a:avLst>
          </a:prstGeom>
          <a:solidFill>
            <a:srgbClr val="FFFFFF"/>
          </a:solidFill>
          <a:ln w="20320">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1000"/>
              </a:spcAft>
            </a:pPr>
            <a:r>
              <a:rPr sz="1550" b="1" i="0">
                <a:solidFill>
                  <a:srgbClr val="B43B2E"/>
                </a:solidFill>
                <a:latin typeface="Calibri"/>
              </a:rPr>
              <a:t>4 · DECIDE</a:t>
            </a:r>
          </a:p>
          <a:p>
            <a:pPr algn="l">
              <a:lnSpc>
                <a:spcPct val="106000"/>
              </a:lnSpc>
              <a:spcAft>
                <a:spcPts val="900"/>
              </a:spcAft>
            </a:pPr>
            <a:r>
              <a:rPr sz="1300" b="0" i="0">
                <a:solidFill>
                  <a:srgbClr val="1A1A1A"/>
                </a:solidFill>
                <a:latin typeface="Calibri"/>
              </a:rPr>
              <a:t>▪  Injection point + dosage window</a:t>
            </a:r>
          </a:p>
          <a:p>
            <a:pPr algn="l">
              <a:lnSpc>
                <a:spcPct val="106000"/>
              </a:lnSpc>
              <a:spcAft>
                <a:spcPts val="900"/>
              </a:spcAft>
            </a:pPr>
            <a:r>
              <a:rPr sz="1300" b="0" i="0">
                <a:solidFill>
                  <a:srgbClr val="1A1A1A"/>
                </a:solidFill>
                <a:latin typeface="Calibri"/>
              </a:rPr>
              <a:t>▪  Breakeven cleanout-frequency model</a:t>
            </a:r>
          </a:p>
          <a:p>
            <a:pPr algn="l">
              <a:lnSpc>
                <a:spcPct val="106000"/>
              </a:lnSpc>
              <a:spcAft>
                <a:spcPts val="900"/>
              </a:spcAft>
            </a:pPr>
            <a:r>
              <a:rPr sz="1300" b="0" i="0">
                <a:solidFill>
                  <a:srgbClr val="1A1A1A"/>
                </a:solidFill>
                <a:latin typeface="Calibri"/>
              </a:rPr>
              <a:t>▪  Output: decision matrix for the field</a:t>
            </a:r>
          </a:p>
        </p:txBody>
      </p:sp>
      <p:sp>
        <p:nvSpPr>
          <p:cNvPr id="11" name="Rounded Rectangle 10"/>
          <p:cNvSpPr/>
          <p:nvPr/>
        </p:nvSpPr>
        <p:spPr>
          <a:xfrm>
            <a:off x="566928" y="5559552"/>
            <a:ext cx="3511296" cy="512064"/>
          </a:xfrm>
          <a:prstGeom prst="roundRect">
            <a:avLst>
              <a:gd name="adj" fmla="val 12000"/>
            </a:avLst>
          </a:prstGeom>
          <a:solidFill>
            <a:srgbClr val="FFFFFF"/>
          </a:solidFill>
          <a:ln w="17780">
            <a:solidFill>
              <a:srgbClr val="2A4A7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0"/>
              </a:spcAft>
            </a:pPr>
            <a:r>
              <a:rPr sz="1100" b="1">
                <a:solidFill>
                  <a:srgbClr val="2A4A73"/>
                </a:solidFill>
                <a:latin typeface="Calibri"/>
              </a:rPr>
              <a:t>1 · LICENSED, if available   </a:t>
            </a:r>
            <a:r>
              <a:rPr sz="1100" b="0">
                <a:solidFill>
                  <a:srgbClr val="4A5568"/>
                </a:solidFill>
                <a:latin typeface="Calibri"/>
              </a:rPr>
              <a:t>PVTsim · Multiflash · OLGA / PIPESIM</a:t>
            </a:r>
          </a:p>
        </p:txBody>
      </p:sp>
      <p:sp>
        <p:nvSpPr>
          <p:cNvPr id="12" name="TextBox 11"/>
          <p:cNvSpPr txBox="1"/>
          <p:nvPr/>
        </p:nvSpPr>
        <p:spPr>
          <a:xfrm>
            <a:off x="4105656" y="5614416"/>
            <a:ext cx="219456" cy="365760"/>
          </a:xfrm>
          <a:prstGeom prst="rect">
            <a:avLst/>
          </a:prstGeom>
          <a:noFill/>
        </p:spPr>
        <p:txBody>
          <a:bodyPr wrap="square">
            <a:spAutoFit/>
          </a:bodyPr>
          <a:lstStyle/>
          <a:p>
            <a:pPr algn="ctr">
              <a:lnSpc>
                <a:spcPct val="102000"/>
              </a:lnSpc>
              <a:spcAft>
                <a:spcPts val="0"/>
              </a:spcAft>
            </a:pPr>
            <a:r>
              <a:rPr sz="1700" b="1" i="0">
                <a:solidFill>
                  <a:srgbClr val="4A5568"/>
                </a:solidFill>
                <a:latin typeface="Calibri"/>
              </a:rPr>
              <a:t>→</a:t>
            </a:r>
          </a:p>
        </p:txBody>
      </p:sp>
      <p:sp>
        <p:nvSpPr>
          <p:cNvPr id="13" name="Rounded Rectangle 12"/>
          <p:cNvSpPr/>
          <p:nvPr/>
        </p:nvSpPr>
        <p:spPr>
          <a:xfrm>
            <a:off x="4325112" y="5559552"/>
            <a:ext cx="3511296" cy="512064"/>
          </a:xfrm>
          <a:prstGeom prst="roundRect">
            <a:avLst>
              <a:gd name="adj" fmla="val 12000"/>
            </a:avLst>
          </a:prstGeom>
          <a:solidFill>
            <a:srgbClr val="FFFFFF"/>
          </a:solidFill>
          <a:ln w="1778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0"/>
              </a:spcAft>
            </a:pPr>
            <a:r>
              <a:rPr sz="1100" b="1">
                <a:solidFill>
                  <a:srgbClr val="0D7377"/>
                </a:solidFill>
                <a:latin typeface="Calibri"/>
              </a:rPr>
              <a:t>2 · OPEN-SOURCE FALLBACK   </a:t>
            </a:r>
            <a:r>
              <a:rPr sz="1100" b="0">
                <a:solidFill>
                  <a:srgbClr val="4A5568"/>
                </a:solidFill>
                <a:latin typeface="Calibri"/>
              </a:rPr>
              <a:t>NeqSim (CPA-EoS) + Python — verified</a:t>
            </a:r>
          </a:p>
        </p:txBody>
      </p:sp>
      <p:sp>
        <p:nvSpPr>
          <p:cNvPr id="14" name="TextBox 13"/>
          <p:cNvSpPr txBox="1"/>
          <p:nvPr/>
        </p:nvSpPr>
        <p:spPr>
          <a:xfrm>
            <a:off x="7863840" y="5614416"/>
            <a:ext cx="219456" cy="365760"/>
          </a:xfrm>
          <a:prstGeom prst="rect">
            <a:avLst/>
          </a:prstGeom>
          <a:noFill/>
        </p:spPr>
        <p:txBody>
          <a:bodyPr wrap="square">
            <a:spAutoFit/>
          </a:bodyPr>
          <a:lstStyle/>
          <a:p>
            <a:pPr algn="ctr">
              <a:lnSpc>
                <a:spcPct val="102000"/>
              </a:lnSpc>
              <a:spcAft>
                <a:spcPts val="0"/>
              </a:spcAft>
            </a:pPr>
            <a:r>
              <a:rPr sz="1700" b="1" i="0">
                <a:solidFill>
                  <a:srgbClr val="4A5568"/>
                </a:solidFill>
                <a:latin typeface="Calibri"/>
              </a:rPr>
              <a:t>→</a:t>
            </a:r>
          </a:p>
        </p:txBody>
      </p:sp>
      <p:sp>
        <p:nvSpPr>
          <p:cNvPr id="15" name="Rounded Rectangle 14"/>
          <p:cNvSpPr/>
          <p:nvPr/>
        </p:nvSpPr>
        <p:spPr>
          <a:xfrm>
            <a:off x="8083296" y="5559552"/>
            <a:ext cx="3511296" cy="512064"/>
          </a:xfrm>
          <a:prstGeom prst="roundRect">
            <a:avLst>
              <a:gd name="adj" fmla="val 12000"/>
            </a:avLst>
          </a:prstGeom>
          <a:solidFill>
            <a:srgbClr val="FFFFFF"/>
          </a:solidFill>
          <a:ln w="17780">
            <a:solidFill>
              <a:srgbClr val="B35A18"/>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0"/>
              </a:spcAft>
            </a:pPr>
            <a:r>
              <a:rPr sz="1100" b="1">
                <a:solidFill>
                  <a:srgbClr val="B35A18"/>
                </a:solidFill>
                <a:latin typeface="Calibri"/>
              </a:rPr>
              <a:t>3 · FLOOR   </a:t>
            </a:r>
            <a:r>
              <a:rPr sz="1100" b="0">
                <a:solidFill>
                  <a:srgbClr val="4A5568"/>
                </a:solidFill>
                <a:latin typeface="Calibri"/>
              </a:rPr>
              <a:t>correlation-based screening</a:t>
            </a:r>
          </a:p>
        </p:txBody>
      </p:sp>
      <p:sp>
        <p:nvSpPr>
          <p:cNvPr id="16" name="TextBox 15"/>
          <p:cNvSpPr txBox="1"/>
          <p:nvPr/>
        </p:nvSpPr>
        <p:spPr>
          <a:xfrm>
            <a:off x="566928" y="6089904"/>
            <a:ext cx="11064240" cy="256032"/>
          </a:xfrm>
          <a:prstGeom prst="rect">
            <a:avLst/>
          </a:prstGeom>
          <a:noFill/>
        </p:spPr>
        <p:txBody>
          <a:bodyPr wrap="square">
            <a:spAutoFit/>
          </a:bodyPr>
          <a:lstStyle/>
          <a:p>
            <a:pPr algn="l">
              <a:lnSpc>
                <a:spcPct val="102000"/>
              </a:lnSpc>
              <a:spcAft>
                <a:spcPts val="0"/>
              </a:spcAft>
            </a:pPr>
            <a:r>
              <a:rPr sz="1050" b="0" i="1">
                <a:solidFill>
                  <a:srgbClr val="4A5568"/>
                </a:solidFill>
                <a:latin typeface="Calibri"/>
              </a:rPr>
              <a:t>TOOL HIERARCHY — the project cannot stall on software: licence check is a Week-1 action, and route 2 is already verified.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PART 5 · TOWARD THE THESIS</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Deliverables, honest limitations, and a realistic 16-week plan</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21/25 · target 40s · clock 13:35</a:t>
            </a:r>
          </a:p>
        </p:txBody>
      </p:sp>
      <p:sp>
        <p:nvSpPr>
          <p:cNvPr id="7" name="Rounded Rectangle 6"/>
          <p:cNvSpPr/>
          <p:nvPr/>
        </p:nvSpPr>
        <p:spPr>
          <a:xfrm>
            <a:off x="566928" y="1691640"/>
            <a:ext cx="3429000" cy="3931920"/>
          </a:xfrm>
          <a:prstGeom prst="roundRect">
            <a:avLst>
              <a:gd name="adj" fmla="val 5000"/>
            </a:avLst>
          </a:prstGeom>
          <a:solidFill>
            <a:srgbClr val="FFFFFF"/>
          </a:solidFill>
          <a:ln w="17780">
            <a:solidFill>
              <a:srgbClr val="0D737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800"/>
              </a:spcAft>
            </a:pPr>
            <a:r>
              <a:rPr sz="1400" b="1" i="0">
                <a:solidFill>
                  <a:srgbClr val="0D7377"/>
                </a:solidFill>
                <a:latin typeface="Calibri"/>
              </a:rPr>
              <a:t>DELIVERABLES</a:t>
            </a:r>
          </a:p>
          <a:p>
            <a:pPr algn="l">
              <a:lnSpc>
                <a:spcPct val="105000"/>
              </a:lnSpc>
              <a:spcAft>
                <a:spcPts val="800"/>
              </a:spcAft>
            </a:pPr>
            <a:r>
              <a:rPr sz="1300" b="0" i="0">
                <a:solidFill>
                  <a:srgbClr val="1A1A1A"/>
                </a:solidFill>
                <a:latin typeface="Calibri"/>
              </a:rPr>
              <a:t>▪  Thesis with full calculation chain</a:t>
            </a:r>
          </a:p>
          <a:p>
            <a:pPr algn="l">
              <a:lnSpc>
                <a:spcPct val="105000"/>
              </a:lnSpc>
              <a:spcAft>
                <a:spcPts val="800"/>
              </a:spcAft>
            </a:pPr>
            <a:r>
              <a:rPr sz="1300" b="0" i="0">
                <a:solidFill>
                  <a:srgbClr val="1A1A1A"/>
                </a:solidFill>
                <a:latin typeface="Calibri"/>
              </a:rPr>
              <a:t>▪  Documented prediction workflow (spreadsheet / Python)</a:t>
            </a:r>
          </a:p>
          <a:p>
            <a:pPr algn="l">
              <a:lnSpc>
                <a:spcPct val="105000"/>
              </a:lnSpc>
              <a:spcAft>
                <a:spcPts val="800"/>
              </a:spcAft>
            </a:pPr>
            <a:r>
              <a:rPr sz="1300" b="0" i="0">
                <a:solidFill>
                  <a:srgbClr val="1A1A1A"/>
                </a:solidFill>
                <a:latin typeface="Calibri"/>
              </a:rPr>
              <a:t>▪  Case-study report: onset depth and injection point</a:t>
            </a:r>
          </a:p>
          <a:p>
            <a:pPr algn="l">
              <a:lnSpc>
                <a:spcPct val="105000"/>
              </a:lnSpc>
              <a:spcAft>
                <a:spcPts val="800"/>
              </a:spcAft>
            </a:pPr>
            <a:r>
              <a:rPr sz="1300" b="0" i="0">
                <a:solidFill>
                  <a:srgbClr val="1A1A1A"/>
                </a:solidFill>
                <a:latin typeface="Calibri"/>
              </a:rPr>
              <a:t>▪  Breakeven economics model</a:t>
            </a:r>
          </a:p>
          <a:p>
            <a:pPr algn="l">
              <a:lnSpc>
                <a:spcPct val="105000"/>
              </a:lnSpc>
              <a:spcAft>
                <a:spcPts val="800"/>
              </a:spcAft>
            </a:pPr>
            <a:r>
              <a:rPr sz="1300" b="0" i="0">
                <a:solidFill>
                  <a:srgbClr val="1A1A1A"/>
                </a:solidFill>
                <a:latin typeface="Calibri"/>
              </a:rPr>
              <a:t>▪  Decision matrix: monitor / inhibit / clean out</a:t>
            </a:r>
          </a:p>
        </p:txBody>
      </p:sp>
      <p:sp>
        <p:nvSpPr>
          <p:cNvPr id="8" name="Rounded Rectangle 7"/>
          <p:cNvSpPr/>
          <p:nvPr/>
        </p:nvSpPr>
        <p:spPr>
          <a:xfrm>
            <a:off x="4160520" y="1691640"/>
            <a:ext cx="3429000" cy="3931920"/>
          </a:xfrm>
          <a:prstGeom prst="roundRect">
            <a:avLst>
              <a:gd name="adj" fmla="val 5000"/>
            </a:avLst>
          </a:prstGeom>
          <a:solidFill>
            <a:srgbClr val="FFFFFF"/>
          </a:solidFill>
          <a:ln w="17780">
            <a:solidFill>
              <a:srgbClr val="B43B2E"/>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lnSpc>
                <a:spcPct val="102000"/>
              </a:lnSpc>
              <a:spcAft>
                <a:spcPts val="800"/>
              </a:spcAft>
            </a:pPr>
            <a:r>
              <a:rPr sz="1400" b="1" i="0">
                <a:solidFill>
                  <a:srgbClr val="B43B2E"/>
                </a:solidFill>
                <a:latin typeface="Calibri"/>
              </a:rPr>
              <a:t>LIMITATIONS &amp; ETHICS (stated up-front)</a:t>
            </a:r>
          </a:p>
          <a:p>
            <a:pPr algn="l">
              <a:lnSpc>
                <a:spcPct val="105000"/>
              </a:lnSpc>
              <a:spcAft>
                <a:spcPts val="800"/>
              </a:spcAft>
            </a:pPr>
            <a:r>
              <a:rPr sz="1300" b="0" i="0">
                <a:solidFill>
                  <a:srgbClr val="1A1A1A"/>
                </a:solidFill>
                <a:latin typeface="Calibri"/>
              </a:rPr>
              <a:t>▪  Literature-based fluids — no live sample unless a partner provides one</a:t>
            </a:r>
          </a:p>
          <a:p>
            <a:pPr algn="l">
              <a:lnSpc>
                <a:spcPct val="105000"/>
              </a:lnSpc>
              <a:spcAft>
                <a:spcPts val="800"/>
              </a:spcAft>
            </a:pPr>
            <a:r>
              <a:rPr sz="1300" b="0" i="0">
                <a:solidFill>
                  <a:srgbClr val="1A1A1A"/>
                </a:solidFill>
                <a:latin typeface="Calibri"/>
              </a:rPr>
              <a:t>▪  Single documented case: conditional conclusions</a:t>
            </a:r>
          </a:p>
          <a:p>
            <a:pPr algn="l">
              <a:lnSpc>
                <a:spcPct val="105000"/>
              </a:lnSpc>
              <a:spcAft>
                <a:spcPts val="800"/>
              </a:spcAft>
            </a:pPr>
            <a:r>
              <a:rPr sz="1300" b="0" i="0">
                <a:solidFill>
                  <a:srgbClr val="1A1A1A"/>
                </a:solidFill>
                <a:latin typeface="Calibri"/>
              </a:rPr>
              <a:t>▪  Deposition-transport modelling kept first-order</a:t>
            </a:r>
          </a:p>
          <a:p>
            <a:pPr algn="l">
              <a:lnSpc>
                <a:spcPct val="105000"/>
              </a:lnSpc>
              <a:spcAft>
                <a:spcPts val="800"/>
              </a:spcAft>
            </a:pPr>
            <a:r>
              <a:rPr sz="1300" b="0" i="0">
                <a:solidFill>
                  <a:srgbClr val="1A1A1A"/>
                </a:solidFill>
                <a:latin typeface="Calibri"/>
              </a:rPr>
              <a:t>▪  Steady-state wellbore profiles</a:t>
            </a:r>
          </a:p>
          <a:p>
            <a:pPr algn="l">
              <a:lnSpc>
                <a:spcPct val="105000"/>
              </a:lnSpc>
              <a:spcAft>
                <a:spcPts val="800"/>
              </a:spcAft>
            </a:pPr>
            <a:r>
              <a:rPr sz="1300" b="0" i="0">
                <a:solidFill>
                  <a:srgbClr val="1A1A1A"/>
                </a:solidFill>
                <a:latin typeface="Calibri"/>
              </a:rPr>
              <a:t>▪  Cost figures indicative, from published ranges</a:t>
            </a:r>
          </a:p>
          <a:p>
            <a:pPr algn="l">
              <a:lnSpc>
                <a:spcPct val="105000"/>
              </a:lnSpc>
              <a:spcAft>
                <a:spcPts val="800"/>
              </a:spcAft>
            </a:pPr>
            <a:r>
              <a:rPr sz="1300" b="0" i="0">
                <a:solidFill>
                  <a:srgbClr val="1A1A1A"/>
                </a:solidFill>
                <a:latin typeface="Calibri"/>
              </a:rPr>
              <a:t>▪  Solvent chemistries compared on paper only — no uncontrolled BTEX handling, no vendor recommended</a:t>
            </a:r>
          </a:p>
        </p:txBody>
      </p:sp>
      <p:graphicFrame>
        <p:nvGraphicFramePr>
          <p:cNvPr id="9" name="Table 8"/>
          <p:cNvGraphicFramePr>
            <a:graphicFrameLocks noGrp="1"/>
          </p:cNvGraphicFramePr>
          <p:nvPr/>
        </p:nvGraphicFramePr>
        <p:xfrm>
          <a:off x="7772400" y="1691640"/>
          <a:ext cx="3840480" cy="2688336"/>
        </p:xfrm>
        <a:graphic>
          <a:graphicData uri="http://schemas.openxmlformats.org/drawingml/2006/table">
            <a:tbl>
              <a:tblPr>
                <a:tableStyleId>{5C22544A-7EE6-4342-B048-85BDC9FD1C3A}</a:tableStyleId>
              </a:tblPr>
              <a:tblGrid>
                <a:gridCol w="1188720"/>
                <a:gridCol w="2651760"/>
              </a:tblGrid>
              <a:tr h="384048">
                <a:tc>
                  <a:txBody>
                    <a:bodyPr wrap="square"/>
                    <a:lstStyle/>
                    <a:p>
                      <a:r>
                        <a:rPr sz="1150" b="1">
                          <a:solidFill>
                            <a:srgbClr val="FFFFFF"/>
                          </a:solidFill>
                          <a:latin typeface="Calibri"/>
                        </a:rPr>
                        <a:t>Weeks</a:t>
                      </a:r>
                    </a:p>
                  </a:txBody>
                  <a:tcPr marL="73152" marR="54864" marT="18288" marB="18288" anchor="ctr">
                    <a:solidFill>
                      <a:srgbClr val="1B365D"/>
                    </a:solidFill>
                  </a:tcPr>
                </a:tc>
                <a:tc>
                  <a:txBody>
                    <a:bodyPr wrap="square"/>
                    <a:lstStyle/>
                    <a:p>
                      <a:r>
                        <a:rPr sz="1150" b="1">
                          <a:solidFill>
                            <a:srgbClr val="FFFFFF"/>
                          </a:solidFill>
                          <a:latin typeface="Calibri"/>
                        </a:rPr>
                        <a:t>Milestone</a:t>
                      </a:r>
                    </a:p>
                  </a:txBody>
                  <a:tcPr marL="73152" marR="54864" marT="18288" marB="18288" anchor="ctr">
                    <a:solidFill>
                      <a:srgbClr val="1B365D"/>
                    </a:solidFill>
                  </a:tcPr>
                </a:tc>
              </a:tr>
              <a:tr h="384048">
                <a:tc>
                  <a:txBody>
                    <a:bodyPr wrap="square"/>
                    <a:lstStyle/>
                    <a:p>
                      <a:r>
                        <a:rPr sz="1150" b="0">
                          <a:solidFill>
                            <a:srgbClr val="1A1A1A"/>
                          </a:solidFill>
                          <a:latin typeface="Calibri"/>
                        </a:rPr>
                        <a:t>1 – 3</a:t>
                      </a:r>
                    </a:p>
                  </a:txBody>
                  <a:tcPr marL="73152" marR="54864" marT="18288" marB="18288" anchor="ctr">
                    <a:solidFill>
                      <a:srgbClr val="FFFFFF"/>
                    </a:solidFill>
                  </a:tcPr>
                </a:tc>
                <a:tc>
                  <a:txBody>
                    <a:bodyPr wrap="square"/>
                    <a:lstStyle/>
                    <a:p>
                      <a:r>
                        <a:rPr sz="1150" b="0">
                          <a:solidFill>
                            <a:srgbClr val="1A1A1A"/>
                          </a:solidFill>
                          <a:latin typeface="Calibri"/>
                        </a:rPr>
                        <a:t>Literature, standards, case selection</a:t>
                      </a:r>
                    </a:p>
                  </a:txBody>
                  <a:tcPr marL="73152" marR="54864" marT="18288" marB="18288" anchor="ctr">
                    <a:solidFill>
                      <a:srgbClr val="FFFFFF"/>
                    </a:solidFill>
                  </a:tcPr>
                </a:tc>
              </a:tr>
              <a:tr h="384048">
                <a:tc>
                  <a:txBody>
                    <a:bodyPr wrap="square"/>
                    <a:lstStyle/>
                    <a:p>
                      <a:r>
                        <a:rPr sz="1150" b="0">
                          <a:solidFill>
                            <a:srgbClr val="1A1A1A"/>
                          </a:solidFill>
                          <a:latin typeface="Calibri"/>
                        </a:rPr>
                        <a:t>4 – 6</a:t>
                      </a:r>
                    </a:p>
                  </a:txBody>
                  <a:tcPr marL="73152" marR="54864" marT="18288" marB="18288" anchor="ctr">
                    <a:solidFill>
                      <a:srgbClr val="F8FAFC"/>
                    </a:solidFill>
                  </a:tcPr>
                </a:tc>
                <a:tc>
                  <a:txBody>
                    <a:bodyPr wrap="square"/>
                    <a:lstStyle/>
                    <a:p>
                      <a:r>
                        <a:rPr sz="1150" b="0">
                          <a:solidFill>
                            <a:srgbClr val="1A1A1A"/>
                          </a:solidFill>
                          <a:latin typeface="Calibri"/>
                        </a:rPr>
                        <a:t>Screen fluid; build the envelope model</a:t>
                      </a:r>
                    </a:p>
                  </a:txBody>
                  <a:tcPr marL="73152" marR="54864" marT="18288" marB="18288" anchor="ctr">
                    <a:solidFill>
                      <a:srgbClr val="F8FAFC"/>
                    </a:solidFill>
                  </a:tcPr>
                </a:tc>
              </a:tr>
              <a:tr h="384048">
                <a:tc>
                  <a:txBody>
                    <a:bodyPr wrap="square"/>
                    <a:lstStyle/>
                    <a:p>
                      <a:r>
                        <a:rPr sz="1150" b="0">
                          <a:solidFill>
                            <a:srgbClr val="1A1A1A"/>
                          </a:solidFill>
                          <a:latin typeface="Calibri"/>
                        </a:rPr>
                        <a:t>7 – 9</a:t>
                      </a:r>
                    </a:p>
                  </a:txBody>
                  <a:tcPr marL="73152" marR="54864" marT="18288" marB="18288" anchor="ctr">
                    <a:solidFill>
                      <a:srgbClr val="FFFFFF"/>
                    </a:solidFill>
                  </a:tcPr>
                </a:tc>
                <a:tc>
                  <a:txBody>
                    <a:bodyPr wrap="square"/>
                    <a:lstStyle/>
                    <a:p>
                      <a:r>
                        <a:rPr sz="1150" b="0">
                          <a:solidFill>
                            <a:srgbClr val="1A1A1A"/>
                          </a:solidFill>
                          <a:latin typeface="Calibri"/>
                        </a:rPr>
                        <a:t>Wellbore model; onset-depth prediction</a:t>
                      </a:r>
                    </a:p>
                  </a:txBody>
                  <a:tcPr marL="73152" marR="54864" marT="18288" marB="18288" anchor="ctr">
                    <a:solidFill>
                      <a:srgbClr val="FFFFFF"/>
                    </a:solidFill>
                  </a:tcPr>
                </a:tc>
              </a:tr>
              <a:tr h="384048">
                <a:tc>
                  <a:txBody>
                    <a:bodyPr wrap="square"/>
                    <a:lstStyle/>
                    <a:p>
                      <a:r>
                        <a:rPr sz="1150" b="0">
                          <a:solidFill>
                            <a:srgbClr val="1A1A1A"/>
                          </a:solidFill>
                          <a:latin typeface="Calibri"/>
                        </a:rPr>
                        <a:t>10 – 11</a:t>
                      </a:r>
                    </a:p>
                  </a:txBody>
                  <a:tcPr marL="73152" marR="54864" marT="18288" marB="18288" anchor="ctr">
                    <a:solidFill>
                      <a:srgbClr val="F8FAFC"/>
                    </a:solidFill>
                  </a:tcPr>
                </a:tc>
                <a:tc>
                  <a:txBody>
                    <a:bodyPr wrap="square"/>
                    <a:lstStyle/>
                    <a:p>
                      <a:r>
                        <a:rPr sz="1150" b="0">
                          <a:solidFill>
                            <a:srgbClr val="1A1A1A"/>
                          </a:solidFill>
                          <a:latin typeface="Calibri"/>
                        </a:rPr>
                        <a:t>Validation against the case; sensitivity</a:t>
                      </a:r>
                    </a:p>
                  </a:txBody>
                  <a:tcPr marL="73152" marR="54864" marT="18288" marB="18288" anchor="ctr">
                    <a:solidFill>
                      <a:srgbClr val="F8FAFC"/>
                    </a:solidFill>
                  </a:tcPr>
                </a:tc>
              </a:tr>
              <a:tr h="384048">
                <a:tc>
                  <a:txBody>
                    <a:bodyPr wrap="square"/>
                    <a:lstStyle/>
                    <a:p>
                      <a:r>
                        <a:rPr sz="1150" b="0">
                          <a:solidFill>
                            <a:srgbClr val="1A1A1A"/>
                          </a:solidFill>
                          <a:latin typeface="Calibri"/>
                        </a:rPr>
                        <a:t>12 – 14</a:t>
                      </a:r>
                    </a:p>
                  </a:txBody>
                  <a:tcPr marL="73152" marR="54864" marT="18288" marB="18288" anchor="ctr">
                    <a:solidFill>
                      <a:srgbClr val="FFFFFF"/>
                    </a:solidFill>
                  </a:tcPr>
                </a:tc>
                <a:tc>
                  <a:txBody>
                    <a:bodyPr wrap="square"/>
                    <a:lstStyle/>
                    <a:p>
                      <a:r>
                        <a:rPr sz="1150" b="0">
                          <a:solidFill>
                            <a:srgbClr val="1A1A1A"/>
                          </a:solidFill>
                          <a:latin typeface="Calibri"/>
                        </a:rPr>
                        <a:t>Economics + thesis writing</a:t>
                      </a:r>
                    </a:p>
                  </a:txBody>
                  <a:tcPr marL="73152" marR="54864" marT="18288" marB="18288" anchor="ctr">
                    <a:solidFill>
                      <a:srgbClr val="FFFFFF"/>
                    </a:solidFill>
                  </a:tcPr>
                </a:tc>
              </a:tr>
              <a:tr h="384048">
                <a:tc>
                  <a:txBody>
                    <a:bodyPr wrap="square"/>
                    <a:lstStyle/>
                    <a:p>
                      <a:r>
                        <a:rPr sz="1150" b="0">
                          <a:solidFill>
                            <a:srgbClr val="1A1A1A"/>
                          </a:solidFill>
                          <a:latin typeface="Calibri"/>
                        </a:rPr>
                        <a:t>15 – 16</a:t>
                      </a:r>
                    </a:p>
                  </a:txBody>
                  <a:tcPr marL="73152" marR="54864" marT="18288" marB="18288" anchor="ctr">
                    <a:solidFill>
                      <a:srgbClr val="F8FAFC"/>
                    </a:solidFill>
                  </a:tcPr>
                </a:tc>
                <a:tc>
                  <a:txBody>
                    <a:bodyPr wrap="square"/>
                    <a:lstStyle/>
                    <a:p>
                      <a:r>
                        <a:rPr sz="1150" b="0">
                          <a:solidFill>
                            <a:srgbClr val="1A1A1A"/>
                          </a:solidFill>
                          <a:latin typeface="Calibri"/>
                        </a:rPr>
                        <a:t>Review, defence preparation</a:t>
                      </a:r>
                    </a:p>
                  </a:txBody>
                  <a:tcPr marL="73152" marR="54864" marT="18288" marB="18288" anchor="ctr">
                    <a:solidFill>
                      <a:srgbClr val="F8FAFC"/>
                    </a:solidFill>
                  </a:tcPr>
                </a:tc>
              </a:tr>
            </a:tbl>
          </a:graphicData>
        </a:graphic>
      </p:graphicFrame>
      <p:sp>
        <p:nvSpPr>
          <p:cNvPr id="10" name="TextBox 9"/>
          <p:cNvSpPr txBox="1"/>
          <p:nvPr/>
        </p:nvSpPr>
        <p:spPr>
          <a:xfrm>
            <a:off x="566928" y="5715000"/>
            <a:ext cx="11064240" cy="310896"/>
          </a:xfrm>
          <a:prstGeom prst="rect">
            <a:avLst/>
          </a:prstGeom>
          <a:noFill/>
        </p:spPr>
        <p:txBody>
          <a:bodyPr wrap="square">
            <a:spAutoFit/>
          </a:bodyPr>
          <a:lstStyle/>
          <a:p>
            <a:pPr algn="l">
              <a:lnSpc>
                <a:spcPct val="102000"/>
              </a:lnSpc>
              <a:spcAft>
                <a:spcPts val="0"/>
              </a:spcAft>
            </a:pPr>
            <a:r>
              <a:rPr sz="1300" b="0" i="1">
                <a:solidFill>
                  <a:srgbClr val="0D7377"/>
                </a:solidFill>
                <a:latin typeface="Calibri"/>
              </a:rPr>
              <a:t>NEXT  →  three messages to take away.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CLOSING</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Three messages — then your questions</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22/25 · target 40s · clock 14:15</a:t>
            </a:r>
          </a:p>
        </p:txBody>
      </p:sp>
      <p:sp>
        <p:nvSpPr>
          <p:cNvPr id="7" name="Rounded Rectangle 6"/>
          <p:cNvSpPr/>
          <p:nvPr/>
        </p:nvSpPr>
        <p:spPr>
          <a:xfrm>
            <a:off x="566928" y="1737360"/>
            <a:ext cx="11064240" cy="123444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8" name="Rounded Rectangle 7"/>
          <p:cNvSpPr/>
          <p:nvPr/>
        </p:nvSpPr>
        <p:spPr>
          <a:xfrm>
            <a:off x="566928" y="3154680"/>
            <a:ext cx="11064240" cy="123444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9" name="Rounded Rectangle 8"/>
          <p:cNvSpPr/>
          <p:nvPr/>
        </p:nvSpPr>
        <p:spPr>
          <a:xfrm>
            <a:off x="566928" y="4572000"/>
            <a:ext cx="11064240" cy="1234440"/>
          </a:xfrm>
          <a:prstGeom prst="roundRect">
            <a:avLst>
              <a:gd name="adj" fmla="val 10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10" name="TextBox 9"/>
          <p:cNvSpPr txBox="1"/>
          <p:nvPr/>
        </p:nvSpPr>
        <p:spPr>
          <a:xfrm>
            <a:off x="868680" y="2011679"/>
            <a:ext cx="822960" cy="822960"/>
          </a:xfrm>
          <a:prstGeom prst="rect">
            <a:avLst/>
          </a:prstGeom>
          <a:noFill/>
        </p:spPr>
        <p:txBody>
          <a:bodyPr wrap="square">
            <a:spAutoFit/>
          </a:bodyPr>
          <a:lstStyle/>
          <a:p>
            <a:pPr algn="ctr">
              <a:lnSpc>
                <a:spcPct val="102000"/>
              </a:lnSpc>
              <a:spcAft>
                <a:spcPts val="0"/>
              </a:spcAft>
            </a:pPr>
            <a:r>
              <a:rPr sz="3800" b="1" i="0">
                <a:solidFill>
                  <a:srgbClr val="B43B2E"/>
                </a:solidFill>
                <a:latin typeface="Calibri"/>
              </a:rPr>
              <a:t>1</a:t>
            </a:r>
          </a:p>
        </p:txBody>
      </p:sp>
      <p:sp>
        <p:nvSpPr>
          <p:cNvPr id="11" name="TextBox 10"/>
          <p:cNvSpPr txBox="1"/>
          <p:nvPr/>
        </p:nvSpPr>
        <p:spPr>
          <a:xfrm>
            <a:off x="1783080" y="1901952"/>
            <a:ext cx="9601200" cy="960120"/>
          </a:xfrm>
          <a:prstGeom prst="rect">
            <a:avLst/>
          </a:prstGeom>
          <a:noFill/>
        </p:spPr>
        <p:txBody>
          <a:bodyPr wrap="square">
            <a:spAutoFit/>
          </a:bodyPr>
          <a:lstStyle/>
          <a:p>
            <a:pPr algn="l">
              <a:lnSpc>
                <a:spcPct val="110000"/>
              </a:lnSpc>
              <a:spcAft>
                <a:spcPts val="0"/>
              </a:spcAft>
            </a:pPr>
            <a:r>
              <a:rPr sz="1600" b="0" i="0">
                <a:solidFill>
                  <a:srgbClr val="1B365D"/>
                </a:solidFill>
                <a:latin typeface="Calibri"/>
              </a:rPr>
              <a:t>Asphaltene plugging is a pressure-and-composition story, not a cooling story — and precipitation is not the same as deposition.</a:t>
            </a:r>
          </a:p>
        </p:txBody>
      </p:sp>
      <p:sp>
        <p:nvSpPr>
          <p:cNvPr id="12" name="TextBox 11"/>
          <p:cNvSpPr txBox="1"/>
          <p:nvPr/>
        </p:nvSpPr>
        <p:spPr>
          <a:xfrm>
            <a:off x="868680" y="3429000"/>
            <a:ext cx="822960" cy="822960"/>
          </a:xfrm>
          <a:prstGeom prst="rect">
            <a:avLst/>
          </a:prstGeom>
          <a:noFill/>
        </p:spPr>
        <p:txBody>
          <a:bodyPr wrap="square">
            <a:spAutoFit/>
          </a:bodyPr>
          <a:lstStyle/>
          <a:p>
            <a:pPr algn="ctr">
              <a:lnSpc>
                <a:spcPct val="102000"/>
              </a:lnSpc>
              <a:spcAft>
                <a:spcPts val="0"/>
              </a:spcAft>
            </a:pPr>
            <a:r>
              <a:rPr sz="3800" b="1" i="0">
                <a:solidFill>
                  <a:srgbClr val="E07A3D"/>
                </a:solidFill>
                <a:latin typeface="Calibri"/>
              </a:rPr>
              <a:t>2</a:t>
            </a:r>
          </a:p>
        </p:txBody>
      </p:sp>
      <p:sp>
        <p:nvSpPr>
          <p:cNvPr id="13" name="TextBox 12"/>
          <p:cNvSpPr txBox="1"/>
          <p:nvPr/>
        </p:nvSpPr>
        <p:spPr>
          <a:xfrm>
            <a:off x="1783080" y="3319272"/>
            <a:ext cx="9601200" cy="960120"/>
          </a:xfrm>
          <a:prstGeom prst="rect">
            <a:avLst/>
          </a:prstGeom>
          <a:noFill/>
        </p:spPr>
        <p:txBody>
          <a:bodyPr wrap="square">
            <a:spAutoFit/>
          </a:bodyPr>
          <a:lstStyle/>
          <a:p>
            <a:pPr algn="l">
              <a:lnSpc>
                <a:spcPct val="110000"/>
              </a:lnSpc>
              <a:spcAft>
                <a:spcPts val="0"/>
              </a:spcAft>
            </a:pPr>
            <a:r>
              <a:rPr sz="1600" b="0" i="0">
                <a:solidFill>
                  <a:srgbClr val="1B365D"/>
                </a:solidFill>
                <a:latin typeface="Calibri"/>
              </a:rPr>
              <a:t>The decisive number is the depth where the flowing path crosses the onset envelope: it sets the injection point, the mitigation strategy and the money.</a:t>
            </a:r>
          </a:p>
        </p:txBody>
      </p:sp>
      <p:sp>
        <p:nvSpPr>
          <p:cNvPr id="14" name="TextBox 13"/>
          <p:cNvSpPr txBox="1"/>
          <p:nvPr/>
        </p:nvSpPr>
        <p:spPr>
          <a:xfrm>
            <a:off x="868680" y="4846320"/>
            <a:ext cx="822960" cy="822960"/>
          </a:xfrm>
          <a:prstGeom prst="rect">
            <a:avLst/>
          </a:prstGeom>
          <a:noFill/>
        </p:spPr>
        <p:txBody>
          <a:bodyPr wrap="square">
            <a:spAutoFit/>
          </a:bodyPr>
          <a:lstStyle/>
          <a:p>
            <a:pPr algn="ctr">
              <a:lnSpc>
                <a:spcPct val="102000"/>
              </a:lnSpc>
              <a:spcAft>
                <a:spcPts val="0"/>
              </a:spcAft>
            </a:pPr>
            <a:r>
              <a:rPr sz="3800" b="1" i="0">
                <a:solidFill>
                  <a:srgbClr val="0D7377"/>
                </a:solidFill>
                <a:latin typeface="Calibri"/>
              </a:rPr>
              <a:t>3</a:t>
            </a:r>
          </a:p>
        </p:txBody>
      </p:sp>
      <p:sp>
        <p:nvSpPr>
          <p:cNvPr id="15" name="TextBox 14"/>
          <p:cNvSpPr txBox="1"/>
          <p:nvPr/>
        </p:nvSpPr>
        <p:spPr>
          <a:xfrm>
            <a:off x="1783080" y="4736592"/>
            <a:ext cx="9601200" cy="960120"/>
          </a:xfrm>
          <a:prstGeom prst="rect">
            <a:avLst/>
          </a:prstGeom>
          <a:noFill/>
        </p:spPr>
        <p:txBody>
          <a:bodyPr wrap="square">
            <a:spAutoFit/>
          </a:bodyPr>
          <a:lstStyle/>
          <a:p>
            <a:pPr algn="l">
              <a:lnSpc>
                <a:spcPct val="110000"/>
              </a:lnSpc>
              <a:spcAft>
                <a:spcPts val="0"/>
              </a:spcAft>
            </a:pPr>
            <a:r>
              <a:rPr sz="1600" b="0" i="0">
                <a:solidFill>
                  <a:srgbClr val="1B365D"/>
                </a:solidFill>
                <a:latin typeface="Calibri"/>
              </a:rPr>
              <a:t>My graduation project builds a transparent screening-to-economics workflow for that depth — validated on a documented field case.</a:t>
            </a:r>
          </a:p>
        </p:txBody>
      </p:sp>
      <p:sp>
        <p:nvSpPr>
          <p:cNvPr id="16" name="Rounded Rectangle 15"/>
          <p:cNvSpPr/>
          <p:nvPr/>
        </p:nvSpPr>
        <p:spPr>
          <a:xfrm>
            <a:off x="566928" y="5806440"/>
            <a:ext cx="11064240" cy="502920"/>
          </a:xfrm>
          <a:prstGeom prst="roundRect">
            <a:avLst>
              <a:gd name="adj" fmla="val 18000"/>
            </a:avLst>
          </a:prstGeom>
          <a:solidFill>
            <a:srgbClr val="E8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2000"/>
              </a:lnSpc>
              <a:spcAft>
                <a:spcPts val="0"/>
              </a:spcAft>
            </a:pPr>
            <a:r>
              <a:rPr sz="1500" b="1" i="0">
                <a:solidFill>
                  <a:srgbClr val="1B365D"/>
                </a:solidFill>
                <a:latin typeface="Calibri"/>
              </a:rPr>
              <a:t>Thank you — I am happy to take your questions.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CLOSING</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Key references (full list per course citation style)</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Slide 23/25 · target 10s · clock 14:25</a:t>
            </a:r>
          </a:p>
        </p:txBody>
      </p:sp>
      <p:sp>
        <p:nvSpPr>
          <p:cNvPr id="7" name="TextBox 6"/>
          <p:cNvSpPr txBox="1"/>
          <p:nvPr/>
        </p:nvSpPr>
        <p:spPr>
          <a:xfrm>
            <a:off x="566928" y="1645920"/>
            <a:ext cx="5486400" cy="4572000"/>
          </a:xfrm>
          <a:prstGeom prst="rect">
            <a:avLst/>
          </a:prstGeom>
          <a:noFill/>
        </p:spPr>
        <p:txBody>
          <a:bodyPr wrap="square">
            <a:spAutoFit/>
          </a:bodyPr>
          <a:lstStyle/>
          <a:p>
            <a:pPr algn="l">
              <a:lnSpc>
                <a:spcPct val="102000"/>
              </a:lnSpc>
              <a:spcAft>
                <a:spcPts val="600"/>
              </a:spcAft>
            </a:pPr>
            <a:r>
              <a:rPr sz="950" b="0" i="0">
                <a:solidFill>
                  <a:srgbClr val="1A1A1A"/>
                </a:solidFill>
                <a:latin typeface="Calibri"/>
              </a:rPr>
              <a:t>[1]  Farooq, U.; Lædre, S.; Gawel, K. Review of Asphaltenes in an Electric Field. Energy &amp; Fuels 2021, 35 (9), 7285–7304. doi:10.1021/acs.energyfuels.0c03962</a:t>
            </a:r>
          </a:p>
          <a:p>
            <a:pPr algn="l">
              <a:lnSpc>
                <a:spcPct val="102000"/>
              </a:lnSpc>
              <a:spcAft>
                <a:spcPts val="600"/>
              </a:spcAft>
            </a:pPr>
            <a:r>
              <a:rPr sz="950" b="0" i="0">
                <a:solidFill>
                  <a:srgbClr val="1A1A1A"/>
                </a:solidFill>
                <a:latin typeface="Calibri"/>
              </a:rPr>
              <a:t>[2]  Stratiev, D.; Nikolova, R.; Veli, A.; Shishkova, I.; Toteva, V.; Georgiev, G. Mitigation of Asphaltene Deposit Formation via Chemical Additives: A Review. Processes 2025, 13 (1), 141. doi:10.3390/pr13010141</a:t>
            </a:r>
          </a:p>
          <a:p>
            <a:pPr algn="l">
              <a:lnSpc>
                <a:spcPct val="102000"/>
              </a:lnSpc>
              <a:spcAft>
                <a:spcPts val="600"/>
              </a:spcAft>
            </a:pPr>
            <a:r>
              <a:rPr sz="950" b="0" i="0">
                <a:solidFill>
                  <a:srgbClr val="1A1A1A"/>
                </a:solidFill>
                <a:latin typeface="Calibri"/>
              </a:rPr>
              <a:t>[3]  Haskett, C. E.; Tartera, M. A Practical Solution to the Problem of Asphaltene Deposits — Hassi Messaoud Field, Algeria. J. Pet. Technol. 1965, 17 (4), 387–391. SPE-994-PA. doi:10.2118/994-PA</a:t>
            </a:r>
          </a:p>
          <a:p>
            <a:pPr algn="l">
              <a:lnSpc>
                <a:spcPct val="102000"/>
              </a:lnSpc>
              <a:spcAft>
                <a:spcPts val="600"/>
              </a:spcAft>
            </a:pPr>
            <a:r>
              <a:rPr sz="950" b="0" i="0">
                <a:solidFill>
                  <a:srgbClr val="1A1A1A"/>
                </a:solidFill>
                <a:latin typeface="Calibri"/>
              </a:rPr>
              <a:t>[4]  Wylde, J.; Punase, A. Asphaltenes: A Complex and Challenging Flow Assurance Issue To Measure and Quantify Risk. J. Pet. Technol., 30 Apr 2020 (deepwater GoM case study).</a:t>
            </a:r>
          </a:p>
          <a:p>
            <a:pPr algn="l">
              <a:lnSpc>
                <a:spcPct val="102000"/>
              </a:lnSpc>
              <a:spcAft>
                <a:spcPts val="600"/>
              </a:spcAft>
            </a:pPr>
            <a:r>
              <a:rPr sz="950" b="0" i="0">
                <a:solidFill>
                  <a:srgbClr val="1A1A1A"/>
                </a:solidFill>
                <a:latin typeface="Calibri"/>
              </a:rPr>
              <a:t>[5]  Yen, A.; Yin, Y. R.; Asomaning, S. Evaluating Asphaltene Inhibitors: Laboratory Tests and Field Studies. SPE 65376, 2001. Thresholds after Asomaning (2003): CII ≥ 0.9 unstable; &lt; 0.7 stable.</a:t>
            </a:r>
          </a:p>
          <a:p>
            <a:pPr algn="l">
              <a:lnSpc>
                <a:spcPct val="102000"/>
              </a:lnSpc>
              <a:spcAft>
                <a:spcPts val="600"/>
              </a:spcAft>
            </a:pPr>
            <a:r>
              <a:rPr sz="950" b="0" i="0">
                <a:solidFill>
                  <a:srgbClr val="1A1A1A"/>
                </a:solidFill>
                <a:latin typeface="Calibri"/>
              </a:rPr>
              <a:t>[6]  de Boer, R. B.; Leerlooyer, K.; Eigner, M. R. P.; van Bergen, A. R. D. Screening of Crude Oils for Asphalt Precipitation: Theory, Practice and the Selection of Inhibitors. SPE Prod. Facil. 1995, 10 (1), 55–61. doi:10.2118/24987-PA</a:t>
            </a:r>
          </a:p>
          <a:p>
            <a:pPr algn="l">
              <a:lnSpc>
                <a:spcPct val="102000"/>
              </a:lnSpc>
              <a:spcAft>
                <a:spcPts val="600"/>
              </a:spcAft>
            </a:pPr>
            <a:r>
              <a:rPr sz="950" b="0" i="0">
                <a:solidFill>
                  <a:srgbClr val="1A1A1A"/>
                </a:solidFill>
                <a:latin typeface="Calibri"/>
              </a:rPr>
              <a:t>[7]  Khaleel, A. T.; Abutaqiya, M. I. L.; Sisco, C. J.; Vargas, F. M. Mitigation of Asphaltene Deposition by Re-injection of Dead Oil. Fluid Phase Equilib. 2020, 514, 112552. doi:10.1016/j.fluid.2020.112552</a:t>
            </a:r>
          </a:p>
        </p:txBody>
      </p:sp>
      <p:sp>
        <p:nvSpPr>
          <p:cNvPr id="8" name="TextBox 7"/>
          <p:cNvSpPr txBox="1"/>
          <p:nvPr/>
        </p:nvSpPr>
        <p:spPr>
          <a:xfrm>
            <a:off x="6263640" y="1645920"/>
            <a:ext cx="5486400" cy="4572000"/>
          </a:xfrm>
          <a:prstGeom prst="rect">
            <a:avLst/>
          </a:prstGeom>
          <a:noFill/>
        </p:spPr>
        <p:txBody>
          <a:bodyPr wrap="square">
            <a:spAutoFit/>
          </a:bodyPr>
          <a:lstStyle/>
          <a:p>
            <a:pPr algn="l">
              <a:lnSpc>
                <a:spcPct val="102000"/>
              </a:lnSpc>
              <a:spcAft>
                <a:spcPts val="600"/>
              </a:spcAft>
            </a:pPr>
            <a:r>
              <a:rPr sz="950" b="0" i="0">
                <a:solidFill>
                  <a:srgbClr val="1A1A1A"/>
                </a:solidFill>
                <a:latin typeface="Calibri"/>
              </a:rPr>
              <a:t>[8]  Cenegy, L. M. Survey of Successful World-Wide Asphaltene Inhibitor Treatments in Oil Production Fields. SPE ATCE, New Orleans, 2001 (original source of the inhibitor cost data).</a:t>
            </a:r>
          </a:p>
          <a:p>
            <a:pPr algn="l">
              <a:lnSpc>
                <a:spcPct val="102000"/>
              </a:lnSpc>
              <a:spcAft>
                <a:spcPts val="600"/>
              </a:spcAft>
            </a:pPr>
            <a:r>
              <a:rPr sz="950" b="0" i="0">
                <a:solidFill>
                  <a:srgbClr val="1A1A1A"/>
                </a:solidFill>
                <a:latin typeface="Calibri"/>
              </a:rPr>
              <a:t>[9]  Asphaltene Deposition Control by Chemical Inhibitors, 1st ed.; Gulf Professional/Elsevier: 2021; Ch. 1 (cost table: removal $0.3–3.5 M/well; sidetrack ≈ $50 M; downtime ≈ $700 k/day).</a:t>
            </a:r>
          </a:p>
          <a:p>
            <a:pPr algn="l">
              <a:lnSpc>
                <a:spcPct val="102000"/>
              </a:lnSpc>
              <a:spcAft>
                <a:spcPts val="600"/>
              </a:spcAft>
            </a:pPr>
            <a:r>
              <a:rPr sz="950" b="0" i="0">
                <a:solidFill>
                  <a:srgbClr val="1A1A1A"/>
                </a:solidFill>
                <a:latin typeface="Calibri"/>
              </a:rPr>
              <a:t>[10] Critical Analysis of Different Techniques Used To Screen Asphaltene Stability in Crude Oils. Fuel 2021, 299, 120839. [Author list to confirm at library]</a:t>
            </a:r>
          </a:p>
          <a:p>
            <a:pPr algn="l">
              <a:lnSpc>
                <a:spcPct val="102000"/>
              </a:lnSpc>
              <a:spcAft>
                <a:spcPts val="600"/>
              </a:spcAft>
            </a:pPr>
            <a:r>
              <a:rPr sz="950" b="0" i="0">
                <a:solidFill>
                  <a:srgbClr val="1A1A1A"/>
                </a:solidFill>
                <a:latin typeface="Calibri"/>
              </a:rPr>
              <a:t>[11] Mullins, O. C. The Modified Yen Model. Energy &amp; Fuels 2010, 24 (4), 2179–2207; reviewed in Mullins et al., Energy &amp; Fuels 2012. doi:10.1021/ef300185p</a:t>
            </a:r>
          </a:p>
          <a:p>
            <a:pPr algn="l">
              <a:lnSpc>
                <a:spcPct val="102000"/>
              </a:lnSpc>
              <a:spcAft>
                <a:spcPts val="600"/>
              </a:spcAft>
            </a:pPr>
            <a:r>
              <a:rPr sz="950" b="0" i="0">
                <a:solidFill>
                  <a:srgbClr val="1A1A1A"/>
                </a:solidFill>
                <a:latin typeface="Calibri"/>
              </a:rPr>
              <a:t>[12] ASTM D6560-22 / IP 143:21 (asphaltenes, n-heptane insolubles); D2007 (clay-gel SARA); D4124 (four fractions); D3279 (n-heptane insolubles); D6703 (automated Heithaus titrimetry).</a:t>
            </a:r>
          </a:p>
          <a:p>
            <a:pPr algn="l">
              <a:lnSpc>
                <a:spcPct val="102000"/>
              </a:lnSpc>
              <a:spcAft>
                <a:spcPts val="600"/>
              </a:spcAft>
            </a:pPr>
            <a:r>
              <a:rPr sz="950" b="0" i="0">
                <a:solidFill>
                  <a:srgbClr val="1A1A1A"/>
                </a:solidFill>
                <a:latin typeface="Calibri"/>
              </a:rPr>
              <a:t>[13] NeqSim — open-source thermodynamic toolkit (CPA-EoS; asphaltene screening). Equinor, Apache-2.0 licence, v3.22. github.com/equinor/neqsim</a:t>
            </a:r>
          </a:p>
          <a:p>
            <a:pPr algn="l">
              <a:lnSpc>
                <a:spcPct val="102000"/>
              </a:lnSpc>
              <a:spcAft>
                <a:spcPts val="600"/>
              </a:spcAft>
            </a:pPr>
            <a:r>
              <a:rPr sz="950" b="0" i="0">
                <a:solidFill>
                  <a:srgbClr val="1A1A1A"/>
                </a:solidFill>
                <a:latin typeface="Calibri"/>
              </a:rPr>
              <a:t>[14] Evaluation and Modeling of Asphaltene Deposition in Oil Wells. SPE-206366-MS, SPE ATCE, Dubai, 2021. doi:10.2118/206366-MS</a:t>
            </a:r>
          </a:p>
          <a:p>
            <a:pPr algn="l">
              <a:lnSpc>
                <a:spcPct val="102000"/>
              </a:lnSpc>
              <a:spcAft>
                <a:spcPts val="600"/>
              </a:spcAft>
            </a:pPr>
            <a:r>
              <a:rPr sz="950" b="0" i="0">
                <a:solidFill>
                  <a:srgbClr val="1A1A1A"/>
                </a:solidFill>
                <a:latin typeface="Calibri"/>
              </a:rPr>
              <a:t>[15] Mohammed, I.; Mahmoud, M.; Al Shehri, D.; El-Husseini, A.; Alade, O. Asphaltene Precipitation and Deposition: A Critical Review. J. Pet. Sci. Eng. 2021, 197, 107956 (thermal/steam limits; inhibitor mechanisms). doi:10.1016/j.petrol.2020.107956</a:t>
            </a:r>
          </a:p>
          <a:p>
            <a:pPr algn="l">
              <a:lnSpc>
                <a:spcPct val="102000"/>
              </a:lnSpc>
              <a:spcAft>
                <a:spcPts val="600"/>
              </a:spcAft>
            </a:pPr>
            <a:r>
              <a:rPr sz="950" b="0" i="0">
                <a:solidFill>
                  <a:srgbClr val="1A1A1A"/>
                </a:solidFill>
                <a:latin typeface="Calibri"/>
              </a:rPr>
              <a:t>[16] Kelland, M. A. Production Chemicals for the Oil and Gas Industry. CRC Press, 2009 (inhibitor-versus-dispersant distinction; accessed via AADE-24-FTCE-073).</a:t>
            </a:r>
          </a:p>
        </p:txBody>
      </p:sp>
      <p:sp>
        <p:nvSpPr>
          <p:cNvPr id="9" name="TextBox 8"/>
          <p:cNvSpPr txBox="1"/>
          <p:nvPr/>
        </p:nvSpPr>
        <p:spPr>
          <a:xfrm>
            <a:off x="566928" y="5806440"/>
            <a:ext cx="11064240" cy="548640"/>
          </a:xfrm>
          <a:prstGeom prst="rect">
            <a:avLst/>
          </a:prstGeom>
          <a:noFill/>
        </p:spPr>
        <p:txBody>
          <a:bodyPr wrap="square">
            <a:spAutoFit/>
          </a:bodyPr>
          <a:lstStyle/>
          <a:p>
            <a:pPr algn="l">
              <a:lnSpc>
                <a:spcPct val="102000"/>
              </a:lnSpc>
              <a:spcAft>
                <a:spcPts val="0"/>
              </a:spcAft>
            </a:pPr>
            <a:r>
              <a:rPr sz="1150" b="0" i="1">
                <a:solidFill>
                  <a:srgbClr val="4A5568"/>
                </a:solidFill>
                <a:latin typeface="Calibri"/>
              </a:rPr>
              <a:t>Full citation details, exact quotes and page references: 04_Source_Log.docx. Technical cross-check, risk register and sensitivity study: 06_Technical_Accuracy_and_Risk_Register.docx. Keyed to every number in the deck.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BACKUP</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Derivation and assumptions: envelope, indices and the onset-depth model</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BACKUP slide 24/25 — show only if asked</a:t>
            </a:r>
          </a:p>
        </p:txBody>
      </p:sp>
      <p:sp>
        <p:nvSpPr>
          <p:cNvPr id="7" name="TextBox 6"/>
          <p:cNvSpPr txBox="1"/>
          <p:nvPr/>
        </p:nvSpPr>
        <p:spPr>
          <a:xfrm>
            <a:off x="566928" y="1645920"/>
            <a:ext cx="11064240" cy="4572000"/>
          </a:xfrm>
          <a:prstGeom prst="rect">
            <a:avLst/>
          </a:prstGeom>
          <a:noFill/>
        </p:spPr>
        <p:txBody>
          <a:bodyPr wrap="square">
            <a:spAutoFit/>
          </a:bodyPr>
          <a:lstStyle/>
          <a:p>
            <a:pPr algn="l">
              <a:lnSpc>
                <a:spcPct val="102000"/>
              </a:lnSpc>
              <a:spcAft>
                <a:spcPts val="200"/>
              </a:spcAft>
            </a:pPr>
            <a:r>
              <a:rPr sz="1400" b="1" i="0">
                <a:solidFill>
                  <a:srgbClr val="1B365D"/>
                </a:solidFill>
                <a:latin typeface="Calibri"/>
              </a:rPr>
              <a:t>▪  CII definition:</a:t>
            </a:r>
          </a:p>
          <a:p>
            <a:pPr algn="l">
              <a:lnSpc>
                <a:spcPct val="104000"/>
              </a:lnSpc>
              <a:spcAft>
                <a:spcPts val="900"/>
              </a:spcAft>
            </a:pPr>
            <a:r>
              <a:rPr sz="1300" b="0" i="0">
                <a:solidFill>
                  <a:srgbClr val="1A1A1A"/>
                </a:solidFill>
                <a:latin typeface="Calibri"/>
              </a:rPr>
              <a:t>CII = (Saturates + Asphaltenes) / (Resins + Aromatics); boundary ≈ 0.9 unstable, &lt; 0.7 stable — thresholds are laboratory-specific.</a:t>
            </a:r>
          </a:p>
          <a:p>
            <a:pPr algn="l">
              <a:lnSpc>
                <a:spcPct val="102000"/>
              </a:lnSpc>
              <a:spcAft>
                <a:spcPts val="200"/>
              </a:spcAft>
            </a:pPr>
            <a:r>
              <a:rPr sz="1400" b="1" i="0">
                <a:solidFill>
                  <a:srgbClr val="1B365D"/>
                </a:solidFill>
                <a:latin typeface="Calibri"/>
              </a:rPr>
              <a:t>▪  De Boer plot (correctly stated):</a:t>
            </a:r>
          </a:p>
          <a:p>
            <a:pPr algn="l">
              <a:lnSpc>
                <a:spcPct val="104000"/>
              </a:lnSpc>
              <a:spcAft>
                <a:spcPts val="900"/>
              </a:spcAft>
            </a:pPr>
            <a:r>
              <a:rPr sz="1300" b="0" i="0">
                <a:solidFill>
                  <a:srgbClr val="1A1A1A"/>
                </a:solidFill>
                <a:latin typeface="Calibri"/>
              </a:rPr>
              <a:t>in-situ density (x) vs gas under-saturation, P_res − P_b (y); three risk zones; risk greatest for LIGHT, undersaturated crudes. The onset-above-Pb rule is a SEPARATE envelope screen.</a:t>
            </a:r>
          </a:p>
          <a:p>
            <a:pPr algn="l">
              <a:lnSpc>
                <a:spcPct val="102000"/>
              </a:lnSpc>
              <a:spcAft>
                <a:spcPts val="200"/>
              </a:spcAft>
            </a:pPr>
            <a:r>
              <a:rPr sz="1400" b="1" i="0">
                <a:solidFill>
                  <a:srgbClr val="1B365D"/>
                </a:solidFill>
                <a:latin typeface="Calibri"/>
              </a:rPr>
              <a:t>▪  Onset curve and depth model:</a:t>
            </a:r>
          </a:p>
          <a:p>
            <a:pPr algn="l">
              <a:lnSpc>
                <a:spcPct val="104000"/>
              </a:lnSpc>
              <a:spcAft>
                <a:spcPts val="900"/>
              </a:spcAft>
            </a:pPr>
            <a:r>
              <a:rPr sz="1300" b="0" i="0">
                <a:solidFill>
                  <a:srgbClr val="1A1A1A"/>
                </a:solidFill>
                <a:latin typeface="Calibri"/>
              </a:rPr>
              <a:t>AOP(T) is linear here for illustration — the thesis tunes a CPA / PC-SAFT-class EoS to measured AOP. Onset depth = where P(d) falls below AOP(T(d)); steady-state profiles here, multiphase in the thesis.</a:t>
            </a:r>
          </a:p>
          <a:p>
            <a:pPr algn="l">
              <a:lnSpc>
                <a:spcPct val="102000"/>
              </a:lnSpc>
              <a:spcAft>
                <a:spcPts val="200"/>
              </a:spcAft>
            </a:pPr>
            <a:r>
              <a:rPr sz="1400" b="1" i="0">
                <a:solidFill>
                  <a:srgbClr val="1B365D"/>
                </a:solidFill>
                <a:latin typeface="Calibri"/>
              </a:rPr>
              <a:t>▪  Sensitivity study (quantified):</a:t>
            </a:r>
          </a:p>
          <a:p>
            <a:pPr algn="l">
              <a:lnSpc>
                <a:spcPct val="104000"/>
              </a:lnSpc>
              <a:spcAft>
                <a:spcPts val="900"/>
              </a:spcAft>
            </a:pPr>
            <a:r>
              <a:rPr sz="1300" b="0" i="0">
                <a:solidFill>
                  <a:srgbClr val="1A1A1A"/>
                </a:solidFill>
                <a:latin typeface="Calibri"/>
              </a:rPr>
              <a:t>base 4,752 m. ±50 bar → ±255 m · ±100 bar → ±511 m · ±10 % gradient → −404 / +487 m · gas-lift (gradient −10 %, AOP +50 bar) → 5,520 m: the whole tubing unstable, so the DOSE does the work. Design rule: inject below the deepest credible onset.</a:t>
            </a:r>
          </a:p>
          <a:p>
            <a:pPr algn="l">
              <a:lnSpc>
                <a:spcPct val="102000"/>
              </a:lnSpc>
              <a:spcAft>
                <a:spcPts val="200"/>
              </a:spcAft>
            </a:pPr>
            <a:r>
              <a:rPr sz="1400" b="1" i="0">
                <a:solidFill>
                  <a:srgbClr val="1B365D"/>
                </a:solidFill>
                <a:latin typeface="Calibri"/>
              </a:rPr>
              <a:t>▪  Deliberately excluded:</a:t>
            </a:r>
          </a:p>
          <a:p>
            <a:pPr algn="l">
              <a:lnSpc>
                <a:spcPct val="104000"/>
              </a:lnSpc>
              <a:spcAft>
                <a:spcPts val="900"/>
              </a:spcAft>
            </a:pPr>
            <a:r>
              <a:rPr sz="1300" b="0" i="0">
                <a:solidFill>
                  <a:srgbClr val="1A1A1A"/>
                </a:solidFill>
                <a:latin typeface="Calibri"/>
              </a:rPr>
              <a:t>deposition growth (first-order only), lower-AOP phenomena, near-wellbore damage.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64240" cy="320040"/>
          </a:xfrm>
          <a:prstGeom prst="rect">
            <a:avLst/>
          </a:prstGeom>
          <a:noFill/>
        </p:spPr>
        <p:txBody>
          <a:bodyPr wrap="square">
            <a:spAutoFit/>
          </a:bodyPr>
          <a:lstStyle/>
          <a:p>
            <a:pPr algn="l">
              <a:lnSpc>
                <a:spcPct val="102000"/>
              </a:lnSpc>
              <a:spcAft>
                <a:spcPts val="0"/>
              </a:spcAft>
            </a:pPr>
            <a:r>
              <a:rPr sz="1150" b="1" i="0">
                <a:solidFill>
                  <a:srgbClr val="0D7377"/>
                </a:solidFill>
                <a:latin typeface="Calibri"/>
              </a:rPr>
              <a:t>BACKUP</a:t>
            </a:r>
          </a:p>
        </p:txBody>
      </p:sp>
      <p:sp>
        <p:nvSpPr>
          <p:cNvPr id="3" name="TextBox 2"/>
          <p:cNvSpPr txBox="1"/>
          <p:nvPr/>
        </p:nvSpPr>
        <p:spPr>
          <a:xfrm>
            <a:off x="566928" y="512064"/>
            <a:ext cx="11192256" cy="868680"/>
          </a:xfrm>
          <a:prstGeom prst="rect">
            <a:avLst/>
          </a:prstGeom>
          <a:noFill/>
        </p:spPr>
        <p:txBody>
          <a:bodyPr wrap="square">
            <a:spAutoFit/>
          </a:bodyPr>
          <a:lstStyle/>
          <a:p>
            <a:pPr algn="l">
              <a:lnSpc>
                <a:spcPct val="100000"/>
              </a:lnSpc>
              <a:spcAft>
                <a:spcPts val="0"/>
              </a:spcAft>
            </a:pPr>
            <a:r>
              <a:rPr sz="2400" b="1" i="0">
                <a:solidFill>
                  <a:srgbClr val="1B365D"/>
                </a:solidFill>
                <a:latin typeface="Calibri"/>
              </a:rPr>
              <a:t>Data sources, tools and validation plan</a:t>
            </a:r>
          </a:p>
        </p:txBody>
      </p:sp>
      <p:sp>
        <p:nvSpPr>
          <p:cNvPr id="4" name="Rectangle 3"/>
          <p:cNvSpPr/>
          <p:nvPr/>
        </p:nvSpPr>
        <p:spPr>
          <a:xfrm>
            <a:off x="603504" y="1412748"/>
            <a:ext cx="1051560" cy="50292"/>
          </a:xfrm>
          <a:prstGeom prst="rect">
            <a:avLst/>
          </a:prstGeom>
          <a:solidFill>
            <a:srgbClr val="E07A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p>
        </p:txBody>
      </p:sp>
      <p:sp>
        <p:nvSpPr>
          <p:cNvPr id="5" name="TextBox 4"/>
          <p:cNvSpPr txBox="1"/>
          <p:nvPr/>
        </p:nvSpPr>
        <p:spPr>
          <a:xfrm>
            <a:off x="566928" y="6455664"/>
            <a:ext cx="7680960" cy="274320"/>
          </a:xfrm>
          <a:prstGeom prst="rect">
            <a:avLst/>
          </a:prstGeom>
          <a:noFill/>
        </p:spPr>
        <p:txBody>
          <a:bodyPr wrap="square">
            <a:spAutoFit/>
          </a:bodyPr>
          <a:lstStyle/>
          <a:p>
            <a:pPr algn="l">
              <a:lnSpc>
                <a:spcPct val="102000"/>
              </a:lnSpc>
              <a:spcAft>
                <a:spcPts val="0"/>
              </a:spcAft>
            </a:pPr>
            <a:r>
              <a:rPr sz="900" b="0" i="0">
                <a:solidFill>
                  <a:srgbClr val="4A5568"/>
                </a:solidFill>
                <a:latin typeface="Calibri"/>
              </a:rPr>
              <a:t>Asphaltenes in production wellbores — flow assurance  ·  Seminar  ·  [Your name]</a:t>
            </a:r>
          </a:p>
        </p:txBody>
      </p:sp>
      <p:sp>
        <p:nvSpPr>
          <p:cNvPr id="6" name="TextBox 5"/>
          <p:cNvSpPr txBox="1"/>
          <p:nvPr/>
        </p:nvSpPr>
        <p:spPr>
          <a:xfrm>
            <a:off x="8138160" y="6455664"/>
            <a:ext cx="3474720" cy="274320"/>
          </a:xfrm>
          <a:prstGeom prst="rect">
            <a:avLst/>
          </a:prstGeom>
          <a:noFill/>
        </p:spPr>
        <p:txBody>
          <a:bodyPr wrap="square">
            <a:spAutoFit/>
          </a:bodyPr>
          <a:lstStyle/>
          <a:p>
            <a:pPr algn="r">
              <a:lnSpc>
                <a:spcPct val="102000"/>
              </a:lnSpc>
              <a:spcAft>
                <a:spcPts val="0"/>
              </a:spcAft>
            </a:pPr>
            <a:r>
              <a:rPr sz="900" b="0" i="0">
                <a:solidFill>
                  <a:srgbClr val="4A5568"/>
                </a:solidFill>
                <a:latin typeface="Calibri"/>
              </a:rPr>
              <a:t>BACKUP slide 25/25 — show only if asked</a:t>
            </a:r>
          </a:p>
        </p:txBody>
      </p:sp>
      <p:sp>
        <p:nvSpPr>
          <p:cNvPr id="7" name="TextBox 6"/>
          <p:cNvSpPr txBox="1"/>
          <p:nvPr/>
        </p:nvSpPr>
        <p:spPr>
          <a:xfrm>
            <a:off x="566928" y="1645920"/>
            <a:ext cx="11064240" cy="4572000"/>
          </a:xfrm>
          <a:prstGeom prst="rect">
            <a:avLst/>
          </a:prstGeom>
          <a:noFill/>
        </p:spPr>
        <p:txBody>
          <a:bodyPr wrap="square">
            <a:spAutoFit/>
          </a:bodyPr>
          <a:lstStyle/>
          <a:p>
            <a:pPr algn="l">
              <a:lnSpc>
                <a:spcPct val="102000"/>
              </a:lnSpc>
              <a:spcAft>
                <a:spcPts val="200"/>
              </a:spcAft>
            </a:pPr>
            <a:r>
              <a:rPr sz="1450" b="1" i="0">
                <a:solidFill>
                  <a:srgbClr val="1B365D"/>
                </a:solidFill>
                <a:latin typeface="Calibri"/>
              </a:rPr>
              <a:t>▪  Fluid data:</a:t>
            </a:r>
          </a:p>
          <a:p>
            <a:pPr algn="l">
              <a:lnSpc>
                <a:spcPct val="104000"/>
              </a:lnSpc>
              <a:spcAft>
                <a:spcPts val="1000"/>
              </a:spcAft>
            </a:pPr>
            <a:r>
              <a:rPr sz="1350" b="0" i="0">
                <a:solidFill>
                  <a:srgbClr val="1A1A1A"/>
                </a:solidFill>
                <a:latin typeface="Calibri"/>
              </a:rPr>
              <a:t>published PVT/SARA reports from case-study literature; field case in Wylde &amp; Punase, JPT (2020); Hassi Messaoud classic data (SPE-994-PA); other published well databases via the university library.</a:t>
            </a:r>
          </a:p>
          <a:p>
            <a:pPr algn="l">
              <a:lnSpc>
                <a:spcPct val="102000"/>
              </a:lnSpc>
              <a:spcAft>
                <a:spcPts val="200"/>
              </a:spcAft>
            </a:pPr>
            <a:r>
              <a:rPr sz="1450" b="1" i="0">
                <a:solidFill>
                  <a:srgbClr val="1B365D"/>
                </a:solidFill>
                <a:latin typeface="Calibri"/>
              </a:rPr>
              <a:t>▪  Licensed tools (if available):</a:t>
            </a:r>
          </a:p>
          <a:p>
            <a:pPr algn="l">
              <a:lnSpc>
                <a:spcPct val="104000"/>
              </a:lnSpc>
              <a:spcAft>
                <a:spcPts val="1000"/>
              </a:spcAft>
            </a:pPr>
            <a:r>
              <a:rPr sz="1350" b="0" i="0">
                <a:solidFill>
                  <a:srgbClr val="1A1A1A"/>
                </a:solidFill>
                <a:latin typeface="Calibri"/>
              </a:rPr>
              <a:t>PVT simulator with asphaltene onset (PVTsim / Multiflash / WinProp-class) and a wellbore flow model (OLGA with asphaltene module / PIPESIM). Confirm with the department in Week 1.</a:t>
            </a:r>
          </a:p>
          <a:p>
            <a:pPr algn="l">
              <a:lnSpc>
                <a:spcPct val="102000"/>
              </a:lnSpc>
              <a:spcAft>
                <a:spcPts val="200"/>
              </a:spcAft>
            </a:pPr>
            <a:r>
              <a:rPr sz="1450" b="1" i="0">
                <a:solidFill>
                  <a:srgbClr val="1B365D"/>
                </a:solidFill>
                <a:latin typeface="Calibri"/>
              </a:rPr>
              <a:t>▪  Open-source fallback:</a:t>
            </a:r>
          </a:p>
          <a:p>
            <a:pPr algn="l">
              <a:lnSpc>
                <a:spcPct val="104000"/>
              </a:lnSpc>
              <a:spcAft>
                <a:spcPts val="1000"/>
              </a:spcAft>
            </a:pPr>
            <a:r>
              <a:rPr sz="1350" b="0" i="0">
                <a:solidFill>
                  <a:srgbClr val="1A1A1A"/>
                </a:solidFill>
                <a:latin typeface="Calibri"/>
              </a:rPr>
              <a:t>NeqSim (Equinor, Apache-2.0) — CPA-EoS asphaltene screening and PVT; Python for the workflow, plots and the economics model.</a:t>
            </a:r>
          </a:p>
          <a:p>
            <a:pPr algn="l">
              <a:lnSpc>
                <a:spcPct val="102000"/>
              </a:lnSpc>
              <a:spcAft>
                <a:spcPts val="200"/>
              </a:spcAft>
            </a:pPr>
            <a:r>
              <a:rPr sz="1450" b="1" i="0">
                <a:solidFill>
                  <a:srgbClr val="1B365D"/>
                </a:solidFill>
                <a:latin typeface="Calibri"/>
              </a:rPr>
              <a:t>▪  Validation targets:</a:t>
            </a:r>
          </a:p>
          <a:p>
            <a:pPr algn="l">
              <a:lnSpc>
                <a:spcPct val="104000"/>
              </a:lnSpc>
              <a:spcAft>
                <a:spcPts val="1000"/>
              </a:spcAft>
            </a:pPr>
            <a:r>
              <a:rPr sz="1350" b="0" i="0">
                <a:solidFill>
                  <a:srgbClr val="1A1A1A"/>
                </a:solidFill>
                <a:latin typeface="Calibri"/>
              </a:rPr>
              <a:t>reproduce the documented case behaviour — predicted onset below the existing mandrel; ID-reduction trend; dosage within the field's 750→500 ppm window — within a stated tolerance; cross-check onset against correlations.</a:t>
            </a:r>
          </a:p>
          <a:p>
            <a:pPr algn="l">
              <a:lnSpc>
                <a:spcPct val="102000"/>
              </a:lnSpc>
              <a:spcAft>
                <a:spcPts val="200"/>
              </a:spcAft>
            </a:pPr>
            <a:r>
              <a:rPr sz="1450" b="1" i="0">
                <a:solidFill>
                  <a:srgbClr val="1B365D"/>
                </a:solidFill>
                <a:latin typeface="Calibri"/>
              </a:rPr>
              <a:t>▪  Risk register (top 3):</a:t>
            </a:r>
          </a:p>
          <a:p>
            <a:pPr algn="l">
              <a:lnSpc>
                <a:spcPct val="104000"/>
              </a:lnSpc>
              <a:spcAft>
                <a:spcPts val="1000"/>
              </a:spcAft>
            </a:pPr>
            <a:r>
              <a:rPr sz="1350" b="0" i="0">
                <a:solidFill>
                  <a:srgbClr val="1A1A1A"/>
                </a:solidFill>
                <a:latin typeface="Calibri"/>
              </a:rPr>
              <a:t>(1) no live fluid sample → use published data and declare it; (2) licensed software unavailable → NeqSim + correlations (project already designed for this); (3) case-data conflicts across sources → document the variance and choose conservative values.</a:t>
            </a:r>
          </a:p>
          <a:p>
            <a:pPr algn="l">
              <a:lnSpc>
                <a:spcPct val="102000"/>
              </a:lnSpc>
              <a:spcAft>
                <a:spcPts val="200"/>
              </a:spcAft>
            </a:pPr>
            <a:r>
              <a:rPr sz="1450" b="1" i="0">
                <a:solidFill>
                  <a:srgbClr val="1B365D"/>
                </a:solidFill>
                <a:latin typeface="Calibri"/>
              </a:rPr>
              <a:t>▪  Ethics &amp; HSE framing:</a:t>
            </a:r>
          </a:p>
          <a:p>
            <a:pPr algn="l">
              <a:lnSpc>
                <a:spcPct val="104000"/>
              </a:lnSpc>
              <a:spcAft>
                <a:spcPts val="1000"/>
              </a:spcAft>
            </a:pPr>
            <a:r>
              <a:rPr sz="1350" b="0" i="0">
                <a:solidFill>
                  <a:srgbClr val="1A1A1A"/>
                </a:solidFill>
                <a:latin typeface="Calibri"/>
              </a:rPr>
              <a:t>aromatic solvents (BTEX) are a workplace-safety topic; the project compares alternatives explicitly and never recommends handling without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Asphaltenes: Predicting and Preventing Wellbore Plugging — Seminar</dc:title>
  <dc:subject/>
  <dc:creator>Prepared for [Your name] — Seminar, BSc Petroleum and Gas Engineering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